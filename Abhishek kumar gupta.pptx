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0" r:id="rId1"/>
  </p:sldMasterIdLst>
  <p:notesMasterIdLst>
    <p:notesMasterId r:id="rId20"/>
  </p:notesMasterIdLst>
  <p:handoutMasterIdLst>
    <p:handoutMasterId r:id="rId21"/>
  </p:handoutMasterIdLst>
  <p:sldIdLst>
    <p:sldId id="271" r:id="rId2"/>
    <p:sldId id="257" r:id="rId3"/>
    <p:sldId id="258" r:id="rId4"/>
    <p:sldId id="284" r:id="rId5"/>
    <p:sldId id="276" r:id="rId6"/>
    <p:sldId id="259" r:id="rId7"/>
    <p:sldId id="260" r:id="rId8"/>
    <p:sldId id="277" r:id="rId9"/>
    <p:sldId id="278" r:id="rId10"/>
    <p:sldId id="262" r:id="rId11"/>
    <p:sldId id="275" r:id="rId12"/>
    <p:sldId id="281" r:id="rId13"/>
    <p:sldId id="283" r:id="rId14"/>
    <p:sldId id="279" r:id="rId15"/>
    <p:sldId id="285" r:id="rId16"/>
    <p:sldId id="267" r:id="rId17"/>
    <p:sldId id="286"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2846" autoAdjust="0"/>
  </p:normalViewPr>
  <p:slideViewPr>
    <p:cSldViewPr snapToGrid="0">
      <p:cViewPr>
        <p:scale>
          <a:sx n="66" d="100"/>
          <a:sy n="66" d="100"/>
        </p:scale>
        <p:origin x="-1500" y="-53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113DA54-A05E-41B6-BA51-3E18B585DD0A}" type="datetimeFigureOut">
              <a:rPr lang="en-US" smtClean="0"/>
              <a:pPr/>
              <a:t>4/14/2026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105C18-DFFC-47FB-BDFF-D0A3B3C35315}" type="slidenum">
              <a:rPr lang="en-US" smtClean="0"/>
              <a:pPr/>
              <a:t>‹#›</a:t>
            </a:fld>
            <a:endParaRPr lang="en-US"/>
          </a:p>
        </p:txBody>
      </p:sp>
    </p:spTree>
    <p:extLst>
      <p:ext uri="{BB962C8B-B14F-4D97-AF65-F5344CB8AC3E}">
        <p14:creationId xmlns:p14="http://schemas.microsoft.com/office/powerpoint/2010/main" val="35784517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FB4321-BD04-492F-892A-471FA2042E08}" type="datetimeFigureOut">
              <a:rPr lang="en-US" smtClean="0"/>
              <a:pPr/>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004844-067D-4E17-BA75-33DEFBAD92B3}" type="slidenum">
              <a:rPr lang="en-US" smtClean="0"/>
              <a:pPr/>
              <a:t>‹#›</a:t>
            </a:fld>
            <a:endParaRPr lang="en-US"/>
          </a:p>
        </p:txBody>
      </p:sp>
    </p:spTree>
    <p:extLst>
      <p:ext uri="{BB962C8B-B14F-4D97-AF65-F5344CB8AC3E}">
        <p14:creationId xmlns:p14="http://schemas.microsoft.com/office/powerpoint/2010/main" val="29997537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2004844-067D-4E17-BA75-33DEFBAD92B3}" type="slidenum">
              <a:rPr lang="en-US" smtClean="0"/>
              <a:pPr/>
              <a:t>1</a:t>
            </a:fld>
            <a:endParaRPr lang="en-US"/>
          </a:p>
        </p:txBody>
      </p:sp>
    </p:spTree>
    <p:extLst>
      <p:ext uri="{BB962C8B-B14F-4D97-AF65-F5344CB8AC3E}">
        <p14:creationId xmlns:p14="http://schemas.microsoft.com/office/powerpoint/2010/main" val="587669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2</a:t>
            </a:fld>
            <a:endParaRPr lang="en-US"/>
          </a:p>
        </p:txBody>
      </p:sp>
    </p:spTree>
    <p:extLst>
      <p:ext uri="{BB962C8B-B14F-4D97-AF65-F5344CB8AC3E}">
        <p14:creationId xmlns:p14="http://schemas.microsoft.com/office/powerpoint/2010/main" val="1362655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3</a:t>
            </a:fld>
            <a:endParaRPr lang="en-US"/>
          </a:p>
        </p:txBody>
      </p:sp>
    </p:spTree>
    <p:extLst>
      <p:ext uri="{BB962C8B-B14F-4D97-AF65-F5344CB8AC3E}">
        <p14:creationId xmlns:p14="http://schemas.microsoft.com/office/powerpoint/2010/main" val="2040889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4</a:t>
            </a:fld>
            <a:endParaRPr lang="en-US"/>
          </a:p>
        </p:txBody>
      </p:sp>
    </p:spTree>
    <p:extLst>
      <p:ext uri="{BB962C8B-B14F-4D97-AF65-F5344CB8AC3E}">
        <p14:creationId xmlns:p14="http://schemas.microsoft.com/office/powerpoint/2010/main" val="2040889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5</a:t>
            </a:fld>
            <a:endParaRPr lang="en-US"/>
          </a:p>
        </p:txBody>
      </p:sp>
    </p:spTree>
    <p:extLst>
      <p:ext uri="{BB962C8B-B14F-4D97-AF65-F5344CB8AC3E}">
        <p14:creationId xmlns:p14="http://schemas.microsoft.com/office/powerpoint/2010/main" val="2040889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6</a:t>
            </a:fld>
            <a:endParaRPr lang="en-US"/>
          </a:p>
        </p:txBody>
      </p:sp>
    </p:spTree>
    <p:extLst>
      <p:ext uri="{BB962C8B-B14F-4D97-AF65-F5344CB8AC3E}">
        <p14:creationId xmlns:p14="http://schemas.microsoft.com/office/powerpoint/2010/main" val="4265696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7</a:t>
            </a:fld>
            <a:endParaRPr lang="en-US"/>
          </a:p>
        </p:txBody>
      </p:sp>
    </p:spTree>
    <p:extLst>
      <p:ext uri="{BB962C8B-B14F-4D97-AF65-F5344CB8AC3E}">
        <p14:creationId xmlns:p14="http://schemas.microsoft.com/office/powerpoint/2010/main" val="2715722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8</a:t>
            </a:fld>
            <a:endParaRPr lang="en-US"/>
          </a:p>
        </p:txBody>
      </p:sp>
    </p:spTree>
    <p:extLst>
      <p:ext uri="{BB962C8B-B14F-4D97-AF65-F5344CB8AC3E}">
        <p14:creationId xmlns:p14="http://schemas.microsoft.com/office/powerpoint/2010/main" val="2715722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9</a:t>
            </a:fld>
            <a:endParaRPr lang="en-US"/>
          </a:p>
        </p:txBody>
      </p:sp>
    </p:spTree>
    <p:extLst>
      <p:ext uri="{BB962C8B-B14F-4D97-AF65-F5344CB8AC3E}">
        <p14:creationId xmlns:p14="http://schemas.microsoft.com/office/powerpoint/2010/main" val="2715722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10</a:t>
            </a:fld>
            <a:endParaRPr lang="en-US"/>
          </a:p>
        </p:txBody>
      </p:sp>
    </p:spTree>
    <p:extLst>
      <p:ext uri="{BB962C8B-B14F-4D97-AF65-F5344CB8AC3E}">
        <p14:creationId xmlns:p14="http://schemas.microsoft.com/office/powerpoint/2010/main" val="641094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2DE8C33-E719-27ED-62E8-A117CE9CCF6A}"/>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00BD009-E962-0115-7203-2DB249E489E0}"/>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C390E8A6-1F81-59A3-82EC-1E5664DE33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 xmlns:a16="http://schemas.microsoft.com/office/drawing/2014/main" id="{90C47AAF-8D62-3C2E-46D5-9047F988DAD9}"/>
              </a:ext>
            </a:extLst>
          </p:cNvPr>
          <p:cNvSpPr>
            <a:spLocks noGrp="1"/>
          </p:cNvSpPr>
          <p:nvPr>
            <p:ph type="sldNum" sz="quarter" idx="10"/>
          </p:nvPr>
        </p:nvSpPr>
        <p:spPr/>
        <p:txBody>
          <a:bodyPr/>
          <a:lstStyle/>
          <a:p>
            <a:fld id="{72004844-067D-4E17-BA75-33DEFBAD92B3}" type="slidenum">
              <a:rPr lang="en-US" smtClean="0"/>
              <a:pPr/>
              <a:t>11</a:t>
            </a:fld>
            <a:endParaRPr lang="en-US"/>
          </a:p>
        </p:txBody>
      </p:sp>
    </p:spTree>
    <p:extLst>
      <p:ext uri="{BB962C8B-B14F-4D97-AF65-F5344CB8AC3E}">
        <p14:creationId xmlns:p14="http://schemas.microsoft.com/office/powerpoint/2010/main" val="833162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12</a:t>
            </a:fld>
            <a:endParaRPr lang="en-US"/>
          </a:p>
        </p:txBody>
      </p:sp>
    </p:spTree>
    <p:extLst>
      <p:ext uri="{BB962C8B-B14F-4D97-AF65-F5344CB8AC3E}">
        <p14:creationId xmlns:p14="http://schemas.microsoft.com/office/powerpoint/2010/main" val="563383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13</a:t>
            </a:fld>
            <a:endParaRPr lang="en-US"/>
          </a:p>
        </p:txBody>
      </p:sp>
    </p:spTree>
    <p:extLst>
      <p:ext uri="{BB962C8B-B14F-4D97-AF65-F5344CB8AC3E}">
        <p14:creationId xmlns:p14="http://schemas.microsoft.com/office/powerpoint/2010/main" val="563383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14</a:t>
            </a:fld>
            <a:endParaRPr lang="en-US"/>
          </a:p>
        </p:txBody>
      </p:sp>
    </p:spTree>
    <p:extLst>
      <p:ext uri="{BB962C8B-B14F-4D97-AF65-F5344CB8AC3E}">
        <p14:creationId xmlns:p14="http://schemas.microsoft.com/office/powerpoint/2010/main" val="5633831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15</a:t>
            </a:fld>
            <a:endParaRPr lang="en-US"/>
          </a:p>
        </p:txBody>
      </p:sp>
    </p:spTree>
    <p:extLst>
      <p:ext uri="{BB962C8B-B14F-4D97-AF65-F5344CB8AC3E}">
        <p14:creationId xmlns:p14="http://schemas.microsoft.com/office/powerpoint/2010/main" val="563383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16</a:t>
            </a:fld>
            <a:endParaRPr lang="en-US"/>
          </a:p>
        </p:txBody>
      </p:sp>
    </p:spTree>
    <p:extLst>
      <p:ext uri="{BB962C8B-B14F-4D97-AF65-F5344CB8AC3E}">
        <p14:creationId xmlns:p14="http://schemas.microsoft.com/office/powerpoint/2010/main" val="2068139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004844-067D-4E17-BA75-33DEFBAD92B3}" type="slidenum">
              <a:rPr lang="en-US" smtClean="0"/>
              <a:pPr/>
              <a:t>17</a:t>
            </a:fld>
            <a:endParaRPr lang="en-US"/>
          </a:p>
        </p:txBody>
      </p:sp>
    </p:spTree>
    <p:extLst>
      <p:ext uri="{BB962C8B-B14F-4D97-AF65-F5344CB8AC3E}">
        <p14:creationId xmlns:p14="http://schemas.microsoft.com/office/powerpoint/2010/main" val="563383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E461DD-9B5D-4A31-8BBA-FE866773F229}" type="datetime1">
              <a:rPr lang="en-US" smtClean="0"/>
              <a:pPr/>
              <a:t>4/14/2026</a:t>
            </a:fld>
            <a:endParaRPr lang="en-US"/>
          </a:p>
        </p:txBody>
      </p:sp>
      <p:sp>
        <p:nvSpPr>
          <p:cNvPr id="5" name="Footer Placeholder 4"/>
          <p:cNvSpPr>
            <a:spLocks noGrp="1"/>
          </p:cNvSpPr>
          <p:nvPr>
            <p:ph type="ftr" sz="quarter" idx="11"/>
          </p:nvPr>
        </p:nvSpPr>
        <p:spPr/>
        <p:txBody>
          <a:bodyPr/>
          <a:lstStyle/>
          <a:p>
            <a:r>
              <a:rPr lang="en-US"/>
              <a:t>BIT </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203258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32C235-3E63-4DF5-BC14-340BC6AB40DD}" type="datetime1">
              <a:rPr lang="en-US" smtClean="0"/>
              <a:pPr/>
              <a:t>4/14/2026</a:t>
            </a:fld>
            <a:endParaRPr lang="en-US"/>
          </a:p>
        </p:txBody>
      </p:sp>
      <p:sp>
        <p:nvSpPr>
          <p:cNvPr id="5" name="Footer Placeholder 4"/>
          <p:cNvSpPr>
            <a:spLocks noGrp="1"/>
          </p:cNvSpPr>
          <p:nvPr>
            <p:ph type="ftr" sz="quarter" idx="11"/>
          </p:nvPr>
        </p:nvSpPr>
        <p:spPr/>
        <p:txBody>
          <a:bodyPr/>
          <a:lstStyle/>
          <a:p>
            <a:r>
              <a:rPr lang="en-US"/>
              <a:t>BIT </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2777307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2F0986-EF4F-45A0-81E8-7B5C0E4628CB}" type="datetime1">
              <a:rPr lang="en-US" smtClean="0"/>
              <a:pPr/>
              <a:t>4/14/2026</a:t>
            </a:fld>
            <a:endParaRPr lang="en-US"/>
          </a:p>
        </p:txBody>
      </p:sp>
      <p:sp>
        <p:nvSpPr>
          <p:cNvPr id="5" name="Footer Placeholder 4"/>
          <p:cNvSpPr>
            <a:spLocks noGrp="1"/>
          </p:cNvSpPr>
          <p:nvPr>
            <p:ph type="ftr" sz="quarter" idx="11"/>
          </p:nvPr>
        </p:nvSpPr>
        <p:spPr/>
        <p:txBody>
          <a:bodyPr/>
          <a:lstStyle/>
          <a:p>
            <a:r>
              <a:rPr lang="en-US"/>
              <a:t>BIT </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1428961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ED4D3E-EE1E-4B17-B80F-DC8BE3CE2DB8}" type="datetime1">
              <a:rPr lang="en-US" smtClean="0"/>
              <a:pPr/>
              <a:t>4/14/2026</a:t>
            </a:fld>
            <a:endParaRPr lang="en-US"/>
          </a:p>
        </p:txBody>
      </p:sp>
      <p:sp>
        <p:nvSpPr>
          <p:cNvPr id="6" name="Footer Placeholder 5"/>
          <p:cNvSpPr>
            <a:spLocks noGrp="1"/>
          </p:cNvSpPr>
          <p:nvPr>
            <p:ph type="ftr" sz="quarter" idx="11"/>
          </p:nvPr>
        </p:nvSpPr>
        <p:spPr/>
        <p:txBody>
          <a:bodyPr/>
          <a:lstStyle/>
          <a:p>
            <a:r>
              <a:rPr lang="en-US"/>
              <a:t>BIT </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2979586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29C356-63BF-4706-9712-7152EBCD5D9B}" type="datetime1">
              <a:rPr lang="en-US" smtClean="0"/>
              <a:pPr/>
              <a:t>4/14/2026</a:t>
            </a:fld>
            <a:endParaRPr lang="en-US"/>
          </a:p>
        </p:txBody>
      </p:sp>
      <p:sp>
        <p:nvSpPr>
          <p:cNvPr id="8" name="Footer Placeholder 7"/>
          <p:cNvSpPr>
            <a:spLocks noGrp="1"/>
          </p:cNvSpPr>
          <p:nvPr>
            <p:ph type="ftr" sz="quarter" idx="11"/>
          </p:nvPr>
        </p:nvSpPr>
        <p:spPr/>
        <p:txBody>
          <a:bodyPr/>
          <a:lstStyle/>
          <a:p>
            <a:r>
              <a:rPr lang="en-US"/>
              <a:t>BIT </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2732433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F02903-5F41-4E81-8319-DA2C2C30BA07}" type="datetime1">
              <a:rPr lang="en-US" smtClean="0"/>
              <a:pPr/>
              <a:t>4/14/2026</a:t>
            </a:fld>
            <a:endParaRPr lang="en-US"/>
          </a:p>
        </p:txBody>
      </p:sp>
      <p:sp>
        <p:nvSpPr>
          <p:cNvPr id="4" name="Footer Placeholder 3"/>
          <p:cNvSpPr>
            <a:spLocks noGrp="1"/>
          </p:cNvSpPr>
          <p:nvPr>
            <p:ph type="ftr" sz="quarter" idx="11"/>
          </p:nvPr>
        </p:nvSpPr>
        <p:spPr/>
        <p:txBody>
          <a:bodyPr/>
          <a:lstStyle/>
          <a:p>
            <a:r>
              <a:rPr lang="en-US"/>
              <a:t>BIT </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226874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BB3A2A-C70B-4A24-A365-20BDFBBCC32B}" type="datetime1">
              <a:rPr lang="en-US" smtClean="0"/>
              <a:pPr/>
              <a:t>4/14/2026</a:t>
            </a:fld>
            <a:endParaRPr lang="en-US"/>
          </a:p>
        </p:txBody>
      </p:sp>
      <p:sp>
        <p:nvSpPr>
          <p:cNvPr id="3" name="Footer Placeholder 2"/>
          <p:cNvSpPr>
            <a:spLocks noGrp="1"/>
          </p:cNvSpPr>
          <p:nvPr>
            <p:ph type="ftr" sz="quarter" idx="11"/>
          </p:nvPr>
        </p:nvSpPr>
        <p:spPr/>
        <p:txBody>
          <a:bodyPr/>
          <a:lstStyle/>
          <a:p>
            <a:r>
              <a:rPr lang="en-US"/>
              <a:t>BIT </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4119105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F34779-9728-490B-B085-1E93F170B0CA}" type="datetime1">
              <a:rPr lang="en-US" smtClean="0"/>
              <a:pPr/>
              <a:t>4/14/2026</a:t>
            </a:fld>
            <a:endParaRPr lang="en-US"/>
          </a:p>
        </p:txBody>
      </p:sp>
      <p:sp>
        <p:nvSpPr>
          <p:cNvPr id="6" name="Footer Placeholder 5"/>
          <p:cNvSpPr>
            <a:spLocks noGrp="1"/>
          </p:cNvSpPr>
          <p:nvPr>
            <p:ph type="ftr" sz="quarter" idx="11"/>
          </p:nvPr>
        </p:nvSpPr>
        <p:spPr/>
        <p:txBody>
          <a:bodyPr/>
          <a:lstStyle/>
          <a:p>
            <a:r>
              <a:rPr lang="en-US"/>
              <a:t>BIT </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4162708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C930DB-3F89-45DC-B414-E62FC24462EE}" type="datetime1">
              <a:rPr lang="en-US" smtClean="0"/>
              <a:pPr/>
              <a:t>4/14/2026</a:t>
            </a:fld>
            <a:endParaRPr lang="en-US"/>
          </a:p>
        </p:txBody>
      </p:sp>
      <p:sp>
        <p:nvSpPr>
          <p:cNvPr id="6" name="Footer Placeholder 5"/>
          <p:cNvSpPr>
            <a:spLocks noGrp="1"/>
          </p:cNvSpPr>
          <p:nvPr>
            <p:ph type="ftr" sz="quarter" idx="11"/>
          </p:nvPr>
        </p:nvSpPr>
        <p:spPr/>
        <p:txBody>
          <a:bodyPr/>
          <a:lstStyle/>
          <a:p>
            <a:r>
              <a:rPr lang="en-US"/>
              <a:t>BIT </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1218709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CBDCC6-F74A-429A-8D2A-17F878D8AC58}" type="datetime1">
              <a:rPr lang="en-US" smtClean="0"/>
              <a:pPr/>
              <a:t>4/14/2026</a:t>
            </a:fld>
            <a:endParaRPr lang="en-US"/>
          </a:p>
        </p:txBody>
      </p:sp>
      <p:sp>
        <p:nvSpPr>
          <p:cNvPr id="5" name="Footer Placeholder 4"/>
          <p:cNvSpPr>
            <a:spLocks noGrp="1"/>
          </p:cNvSpPr>
          <p:nvPr>
            <p:ph type="ftr" sz="quarter" idx="11"/>
          </p:nvPr>
        </p:nvSpPr>
        <p:spPr/>
        <p:txBody>
          <a:bodyPr/>
          <a:lstStyle/>
          <a:p>
            <a:r>
              <a:rPr lang="en-US"/>
              <a:t>BIT </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1741345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E6CEF4-0F96-4574-B80D-2472FE814096}" type="datetime1">
              <a:rPr lang="en-US" smtClean="0"/>
              <a:pPr/>
              <a:t>4/14/2026</a:t>
            </a:fld>
            <a:endParaRPr lang="en-US"/>
          </a:p>
        </p:txBody>
      </p:sp>
      <p:sp>
        <p:nvSpPr>
          <p:cNvPr id="5" name="Footer Placeholder 4"/>
          <p:cNvSpPr>
            <a:spLocks noGrp="1"/>
          </p:cNvSpPr>
          <p:nvPr>
            <p:ph type="ftr" sz="quarter" idx="11"/>
          </p:nvPr>
        </p:nvSpPr>
        <p:spPr/>
        <p:txBody>
          <a:bodyPr/>
          <a:lstStyle/>
          <a:p>
            <a:r>
              <a:rPr lang="en-US"/>
              <a:t>BIT </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644A48F-8A81-4243-B6BC-BE3EBF35E0A6}" type="slidenum">
              <a:rPr lang="en-US" smtClean="0"/>
              <a:pPr/>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2941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87969A3-3844-4E5D-94B4-5587AE96B362}" type="datetime1">
              <a:rPr lang="en-US" smtClean="0"/>
              <a:pPr/>
              <a:t>4/14/2026</a:t>
            </a:fld>
            <a:endParaRPr lang="en-US"/>
          </a:p>
        </p:txBody>
      </p:sp>
      <p:sp>
        <p:nvSpPr>
          <p:cNvPr id="6" name="Footer Placeholder 5"/>
          <p:cNvSpPr>
            <a:spLocks noGrp="1"/>
          </p:cNvSpPr>
          <p:nvPr>
            <p:ph type="ftr" sz="quarter" idx="11"/>
          </p:nvPr>
        </p:nvSpPr>
        <p:spPr/>
        <p:txBody>
          <a:bodyPr/>
          <a:lstStyle/>
          <a:p>
            <a:r>
              <a:rPr lang="en-US"/>
              <a:t>BIT </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3416048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CC98180-734D-44A8-BEAC-7498346427E7}" type="datetime1">
              <a:rPr lang="en-US" smtClean="0"/>
              <a:pPr/>
              <a:t>4/14/2026</a:t>
            </a:fld>
            <a:endParaRPr lang="en-US"/>
          </a:p>
        </p:txBody>
      </p:sp>
      <p:sp>
        <p:nvSpPr>
          <p:cNvPr id="6" name="Footer Placeholder 5"/>
          <p:cNvSpPr>
            <a:spLocks noGrp="1"/>
          </p:cNvSpPr>
          <p:nvPr>
            <p:ph type="ftr" sz="quarter" idx="11"/>
          </p:nvPr>
        </p:nvSpPr>
        <p:spPr/>
        <p:txBody>
          <a:bodyPr/>
          <a:lstStyle/>
          <a:p>
            <a:r>
              <a:rPr lang="en-US"/>
              <a:t>BIT </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644A48F-8A81-4243-B6BC-BE3EBF35E0A6}" type="slidenum">
              <a:rPr lang="en-US" smtClean="0"/>
              <a:pPr/>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705864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A3C45CF-E566-4B86-A5EE-A09B6195DDEC}" type="datetime1">
              <a:rPr lang="en-US" smtClean="0"/>
              <a:pPr/>
              <a:t>4/14/2026</a:t>
            </a:fld>
            <a:endParaRPr lang="en-US"/>
          </a:p>
        </p:txBody>
      </p:sp>
      <p:sp>
        <p:nvSpPr>
          <p:cNvPr id="6" name="Footer Placeholder 5"/>
          <p:cNvSpPr>
            <a:spLocks noGrp="1"/>
          </p:cNvSpPr>
          <p:nvPr>
            <p:ph type="ftr" sz="quarter" idx="11"/>
          </p:nvPr>
        </p:nvSpPr>
        <p:spPr/>
        <p:txBody>
          <a:bodyPr/>
          <a:lstStyle/>
          <a:p>
            <a:r>
              <a:rPr lang="en-US"/>
              <a:t>BIT </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22791873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521E3C-A084-49FA-85AA-51F9D1FED873}" type="datetime1">
              <a:rPr lang="en-US" smtClean="0"/>
              <a:pPr/>
              <a:t>4/14/2026</a:t>
            </a:fld>
            <a:endParaRPr lang="en-US"/>
          </a:p>
        </p:txBody>
      </p:sp>
      <p:sp>
        <p:nvSpPr>
          <p:cNvPr id="5" name="Footer Placeholder 4"/>
          <p:cNvSpPr>
            <a:spLocks noGrp="1"/>
          </p:cNvSpPr>
          <p:nvPr>
            <p:ph type="ftr" sz="quarter" idx="11"/>
          </p:nvPr>
        </p:nvSpPr>
        <p:spPr/>
        <p:txBody>
          <a:bodyPr/>
          <a:lstStyle/>
          <a:p>
            <a:r>
              <a:rPr lang="en-US"/>
              <a:t>BIT </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40498349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873FBF-D8BE-43B6-BD93-E6CE2FA18B4D}" type="datetime1">
              <a:rPr lang="en-US" smtClean="0"/>
              <a:pPr/>
              <a:t>4/14/2026</a:t>
            </a:fld>
            <a:endParaRPr lang="en-US"/>
          </a:p>
        </p:txBody>
      </p:sp>
      <p:sp>
        <p:nvSpPr>
          <p:cNvPr id="5" name="Footer Placeholder 4"/>
          <p:cNvSpPr>
            <a:spLocks noGrp="1"/>
          </p:cNvSpPr>
          <p:nvPr>
            <p:ph type="ftr" sz="quarter" idx="11"/>
          </p:nvPr>
        </p:nvSpPr>
        <p:spPr/>
        <p:txBody>
          <a:bodyPr/>
          <a:lstStyle/>
          <a:p>
            <a:r>
              <a:rPr lang="en-US"/>
              <a:t>BIT </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644A48F-8A81-4243-B6BC-BE3EBF35E0A6}" type="slidenum">
              <a:rPr lang="en-US" smtClean="0"/>
              <a:pPr/>
              <a:t>‹#›</a:t>
            </a:fld>
            <a:endParaRPr lang="en-US"/>
          </a:p>
        </p:txBody>
      </p:sp>
    </p:spTree>
    <p:extLst>
      <p:ext uri="{BB962C8B-B14F-4D97-AF65-F5344CB8AC3E}">
        <p14:creationId xmlns:p14="http://schemas.microsoft.com/office/powerpoint/2010/main" val="1245490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B4D2A1B-765E-496A-B1B6-18CDF153907C}" type="datetime1">
              <a:rPr lang="en-US" smtClean="0"/>
              <a:pPr/>
              <a:t>4/14/2026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BIT </a:t>
            </a: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644A48F-8A81-4243-B6BC-BE3EBF35E0A6}" type="slidenum">
              <a:rPr lang="en-US" smtClean="0"/>
              <a:pPr/>
              <a:t>‹#›</a:t>
            </a:fld>
            <a:endParaRPr lang="en-US"/>
          </a:p>
        </p:txBody>
      </p:sp>
    </p:spTree>
    <p:extLst>
      <p:ext uri="{BB962C8B-B14F-4D97-AF65-F5344CB8AC3E}">
        <p14:creationId xmlns:p14="http://schemas.microsoft.com/office/powerpoint/2010/main" val="1391590212"/>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ijraset.com/research-paper/agriculture-waste-used-as-partial-replacement-in-green-concrete-manufacturin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28118" y="732695"/>
            <a:ext cx="9394257" cy="2895600"/>
          </a:xfrm>
        </p:spPr>
        <p:txBody>
          <a:bodyPr>
            <a:normAutofit fontScale="90000"/>
          </a:bodyPr>
          <a:lstStyle/>
          <a:p>
            <a:pPr algn="ctr"/>
            <a:r>
              <a:rPr lang="en-US" sz="2800" b="1" dirty="0"/>
              <a:t/>
            </a:r>
            <a:br>
              <a:rPr lang="en-US" sz="2800" b="1" dirty="0"/>
            </a:br>
            <a:r>
              <a:rPr lang="en-US" sz="2800" b="1" dirty="0">
                <a:latin typeface="Times New Roman" panose="02020603050405020304" pitchFamily="18" charset="0"/>
                <a:cs typeface="Times New Roman" panose="02020603050405020304" pitchFamily="18" charset="0"/>
              </a:rPr>
              <a:t> 1</a:t>
            </a:r>
            <a:r>
              <a:rPr lang="en-US" sz="2800" b="1" baseline="30000" dirty="0">
                <a:latin typeface="Times New Roman" panose="02020603050405020304" pitchFamily="18" charset="0"/>
                <a:cs typeface="Times New Roman" panose="02020603050405020304" pitchFamily="18" charset="0"/>
              </a:rPr>
              <a:t>st</a:t>
            </a:r>
            <a:r>
              <a:rPr lang="en-US" sz="2800" b="1" dirty="0">
                <a:latin typeface="Times New Roman" panose="02020603050405020304" pitchFamily="18" charset="0"/>
                <a:cs typeface="Times New Roman" panose="02020603050405020304" pitchFamily="18" charset="0"/>
              </a:rPr>
              <a:t> National Conference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on </a:t>
            </a:r>
            <a:r>
              <a:rPr lang="en-IN" sz="2800" b="1" dirty="0">
                <a:latin typeface="Times New Roman" panose="02020603050405020304" pitchFamily="18" charset="0"/>
                <a:cs typeface="Times New Roman" panose="02020603050405020304" pitchFamily="18" charset="0"/>
              </a:rPr>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Sustainable Civil Engineering &amp; Geospatial Technologies: Materials and Innovations for Climate Resilience</a:t>
            </a:r>
            <a:r>
              <a:rPr lang="en-IN" sz="2800" b="1" dirty="0">
                <a:latin typeface="Times New Roman" panose="02020603050405020304" pitchFamily="18" charset="0"/>
                <a:cs typeface="Times New Roman" panose="02020603050405020304" pitchFamily="18" charset="0"/>
              </a:rPr>
              <a:t>” </a:t>
            </a:r>
            <a:br>
              <a:rPr lang="en-IN" sz="2800" b="1" dirty="0">
                <a:latin typeface="Times New Roman" panose="02020603050405020304" pitchFamily="18" charset="0"/>
                <a:cs typeface="Times New Roman" panose="02020603050405020304" pitchFamily="18" charset="0"/>
              </a:rPr>
            </a:br>
            <a:r>
              <a:rPr lang="en-US" sz="2800" b="1" dirty="0"/>
              <a:t/>
            </a:r>
            <a:br>
              <a:rPr lang="en-US" sz="2800" b="1" dirty="0"/>
            </a:br>
            <a:r>
              <a:rPr lang="en-US" sz="2400" b="1" dirty="0"/>
              <a:t> </a:t>
            </a:r>
            <a:r>
              <a:rPr lang="en-US" sz="2400" b="1" dirty="0">
                <a:solidFill>
                  <a:srgbClr val="0070C0"/>
                </a:solidFill>
                <a:latin typeface="Times New Roman" panose="02020603050405020304" pitchFamily="18" charset="0"/>
                <a:cs typeface="Times New Roman" panose="02020603050405020304" pitchFamily="18" charset="0"/>
              </a:rPr>
              <a:t>Buddha Institute of Technology, GIDA, Gorakhpur </a:t>
            </a:r>
            <a:r>
              <a:rPr lang="en-US" sz="2400" b="1" dirty="0">
                <a:solidFill>
                  <a:srgbClr val="0070C0"/>
                </a:solidFill>
              </a:rPr>
              <a:t/>
            </a:r>
            <a:br>
              <a:rPr lang="en-US" sz="2400" b="1" dirty="0">
                <a:solidFill>
                  <a:srgbClr val="0070C0"/>
                </a:solidFill>
              </a:rPr>
            </a:br>
            <a:r>
              <a:rPr lang="en-US" sz="2400" b="1" dirty="0">
                <a:solidFill>
                  <a:srgbClr val="0070C0"/>
                </a:solidFill>
              </a:rPr>
              <a:t/>
            </a:r>
            <a:br>
              <a:rPr lang="en-US" sz="2400" b="1" dirty="0">
                <a:solidFill>
                  <a:srgbClr val="0070C0"/>
                </a:solidFill>
              </a:rPr>
            </a:br>
            <a:r>
              <a:rPr lang="en-US" sz="2400" dirty="0"/>
              <a:t> </a:t>
            </a:r>
            <a:r>
              <a:rPr lang="en-IN" sz="2400" b="1" dirty="0">
                <a:latin typeface="Times New Roman" panose="02020603050405020304" pitchFamily="18" charset="0"/>
                <a:cs typeface="Times New Roman" panose="02020603050405020304" pitchFamily="18" charset="0"/>
              </a:rPr>
              <a:t>Date of Conference: 15</a:t>
            </a:r>
            <a:r>
              <a:rPr lang="en-IN" sz="2400" b="1" baseline="30000" dirty="0">
                <a:latin typeface="Times New Roman" panose="02020603050405020304" pitchFamily="18" charset="0"/>
                <a:cs typeface="Times New Roman" panose="02020603050405020304" pitchFamily="18" charset="0"/>
              </a:rPr>
              <a:t>th</a:t>
            </a:r>
            <a:r>
              <a:rPr lang="en-IN" sz="2400" b="1" dirty="0">
                <a:latin typeface="Times New Roman" panose="02020603050405020304" pitchFamily="18" charset="0"/>
                <a:cs typeface="Times New Roman" panose="02020603050405020304" pitchFamily="18" charset="0"/>
              </a:rPr>
              <a:t> To 16</a:t>
            </a:r>
            <a:r>
              <a:rPr lang="en-IN" sz="2400" b="1" baseline="30000" dirty="0">
                <a:latin typeface="Times New Roman" panose="02020603050405020304" pitchFamily="18" charset="0"/>
                <a:cs typeface="Times New Roman" panose="02020603050405020304" pitchFamily="18" charset="0"/>
              </a:rPr>
              <a:t>th </a:t>
            </a:r>
            <a:r>
              <a:rPr lang="en-IN" sz="2400" b="1" dirty="0">
                <a:latin typeface="Times New Roman" panose="02020603050405020304" pitchFamily="18" charset="0"/>
                <a:cs typeface="Times New Roman" panose="02020603050405020304" pitchFamily="18" charset="0"/>
              </a:rPr>
              <a:t>April, 2026 </a:t>
            </a:r>
            <a:r>
              <a:rPr lang="en-US" sz="2400" dirty="0"/>
              <a:t/>
            </a:r>
            <a:br>
              <a:rPr lang="en-US" sz="2400" dirty="0"/>
            </a:br>
            <a:r>
              <a:rPr lang="en-US" sz="2800" spc="400" dirty="0">
                <a:solidFill>
                  <a:schemeClr val="tx2">
                    <a:lumMod val="75000"/>
                  </a:schemeClr>
                </a:solidFill>
                <a:latin typeface="Roboto Medium" pitchFamily="2" charset="0"/>
                <a:ea typeface="Roboto Medium" pitchFamily="2" charset="0"/>
              </a:rPr>
              <a:t/>
            </a:r>
            <a:br>
              <a:rPr lang="en-US" sz="2800" spc="400" dirty="0">
                <a:solidFill>
                  <a:schemeClr val="tx2">
                    <a:lumMod val="75000"/>
                  </a:schemeClr>
                </a:solidFill>
                <a:latin typeface="Roboto Medium" pitchFamily="2" charset="0"/>
                <a:ea typeface="Roboto Medium" pitchFamily="2" charset="0"/>
              </a:rPr>
            </a:br>
            <a:endParaRPr lang="en-US" sz="2800" dirty="0"/>
          </a:p>
        </p:txBody>
      </p:sp>
      <p:sp>
        <p:nvSpPr>
          <p:cNvPr id="3" name="Text Placeholder 2"/>
          <p:cNvSpPr>
            <a:spLocks noGrp="1"/>
          </p:cNvSpPr>
          <p:nvPr>
            <p:ph type="body" sz="quarter" idx="13"/>
          </p:nvPr>
        </p:nvSpPr>
        <p:spPr>
          <a:xfrm>
            <a:off x="1806974" y="3621952"/>
            <a:ext cx="8915400" cy="739034"/>
          </a:xfrm>
        </p:spPr>
        <p:txBody>
          <a:bodyPr/>
          <a:lstStyle/>
          <a:p>
            <a:pPr algn="ctr"/>
            <a:r>
              <a:rPr lang="en-US" sz="2800" dirty="0" smtClean="0">
                <a:latin typeface="Times New Roman" panose="02020603050405020304" pitchFamily="18" charset="0"/>
                <a:cs typeface="Times New Roman" panose="02020603050405020304" pitchFamily="18" charset="0"/>
              </a:rPr>
              <a:t>Partial Replacement of Cement With Agriculture Waste Ash</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half" idx="2"/>
          </p:nvPr>
        </p:nvSpPr>
        <p:spPr>
          <a:xfrm>
            <a:off x="7890498" y="4846640"/>
            <a:ext cx="4002843" cy="1482075"/>
          </a:xfrm>
        </p:spPr>
        <p:txBody>
          <a:bodyPr>
            <a:noAutofit/>
          </a:bodyPr>
          <a:lstStyle/>
          <a:p>
            <a:pPr algn="ctr"/>
            <a:r>
              <a:rPr b="1" dirty="0">
                <a:latin typeface="Times New Roman" panose="02020603050405020304" pitchFamily="18" charset="0"/>
                <a:cs typeface="Times New Roman" panose="02020603050405020304" pitchFamily="18" charset="0"/>
              </a:rPr>
              <a:t>Presented By: </a:t>
            </a:r>
          </a:p>
          <a:p>
            <a:pPr algn="ctr"/>
            <a:r>
              <a:rPr lang="en-IN" dirty="0" smtClean="0">
                <a:latin typeface="Times New Roman" panose="02020603050405020304" pitchFamily="18" charset="0"/>
                <a:cs typeface="Times New Roman" panose="02020603050405020304" pitchFamily="18" charset="0"/>
              </a:rPr>
              <a:t>Abhishek Kumar Gupta </a:t>
            </a:r>
            <a:endParaRPr lang="en-US" dirty="0">
              <a:latin typeface="Times New Roman" panose="02020603050405020304" pitchFamily="18" charset="0"/>
              <a:cs typeface="Times New Roman" panose="02020603050405020304" pitchFamily="18" charset="0"/>
            </a:endParaRPr>
          </a:p>
          <a:p>
            <a:pPr algn="ctr"/>
            <a:r>
              <a:rPr dirty="0" smtClean="0">
                <a:latin typeface="Times New Roman" panose="02020603050405020304" pitchFamily="18" charset="0"/>
                <a:cs typeface="Times New Roman" panose="02020603050405020304" pitchFamily="18" charset="0"/>
              </a:rPr>
              <a:t>2305250009001</a:t>
            </a:r>
            <a:endParaRPr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Final Year</a:t>
            </a:r>
          </a:p>
        </p:txBody>
      </p:sp>
      <p:sp>
        <p:nvSpPr>
          <p:cNvPr id="12" name="Footer Placeholder 3"/>
          <p:cNvSpPr>
            <a:spLocks noGrp="1"/>
          </p:cNvSpPr>
          <p:nvPr>
            <p:ph type="ftr" sz="quarter" idx="11"/>
          </p:nvPr>
        </p:nvSpPr>
        <p:spPr>
          <a:xfrm>
            <a:off x="1162418" y="6382519"/>
            <a:ext cx="10204512" cy="767599"/>
          </a:xfrm>
        </p:spPr>
        <p:txBody>
          <a:bodyPr/>
          <a:lstStyle/>
          <a:p>
            <a:pPr algn="ctr"/>
            <a:r>
              <a:rPr lang="en-US" sz="2400" b="1" dirty="0">
                <a:latin typeface="Times New Roman" panose="02020603050405020304" pitchFamily="18" charset="0"/>
                <a:cs typeface="Times New Roman" panose="02020603050405020304" pitchFamily="18" charset="0"/>
              </a:rPr>
              <a:t> Department of Civil Engineering, BIT Gorakhpur</a:t>
            </a:r>
          </a:p>
          <a:p>
            <a:endParaRPr lang="en-US" sz="2400" dirty="0">
              <a:solidFill>
                <a:schemeClr val="tx1"/>
              </a:solidFill>
            </a:endParaRPr>
          </a:p>
        </p:txBody>
      </p:sp>
      <p:sp>
        <p:nvSpPr>
          <p:cNvPr id="5" name="Text Placeholder 3">
            <a:extLst>
              <a:ext uri="{FF2B5EF4-FFF2-40B4-BE49-F238E27FC236}">
                <a16:creationId xmlns="" xmlns:a16="http://schemas.microsoft.com/office/drawing/2014/main" id="{0125232B-5B54-02E3-4D0D-862665D5DDB4}"/>
              </a:ext>
            </a:extLst>
          </p:cNvPr>
          <p:cNvSpPr txBox="1">
            <a:spLocks/>
          </p:cNvSpPr>
          <p:nvPr/>
        </p:nvSpPr>
        <p:spPr>
          <a:xfrm>
            <a:off x="1040969" y="4842670"/>
            <a:ext cx="3906175" cy="1482075"/>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Font typeface="Wingdings 3" charset="2"/>
              <a:buNone/>
              <a:defRPr lang="en-US" sz="1800" kern="1200">
                <a:solidFill>
                  <a:schemeClr val="tx1">
                    <a:lumMod val="65000"/>
                    <a:lumOff val="3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ctr"/>
            <a:r>
              <a:rPr lang="en-US" b="1" dirty="0">
                <a:latin typeface="Times New Roman" panose="02020603050405020304" pitchFamily="18" charset="0"/>
                <a:cs typeface="Times New Roman" panose="02020603050405020304" pitchFamily="18" charset="0"/>
              </a:rPr>
              <a:t>Under the Guidance</a:t>
            </a:r>
          </a:p>
          <a:p>
            <a:pPr algn="ctr"/>
            <a:r>
              <a:rPr lang="en-IN" dirty="0" err="1">
                <a:latin typeface="Times New Roman" panose="02020603050405020304" pitchFamily="18" charset="0"/>
                <a:cs typeface="Times New Roman" panose="02020603050405020304" pitchFamily="18" charset="0"/>
              </a:rPr>
              <a:t>Mr.</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Rahul </a:t>
            </a:r>
            <a:r>
              <a:rPr lang="en-IN" dirty="0" err="1" smtClean="0">
                <a:latin typeface="Times New Roman" panose="02020603050405020304" pitchFamily="18" charset="0"/>
                <a:cs typeface="Times New Roman" panose="02020603050405020304" pitchFamily="18" charset="0"/>
              </a:rPr>
              <a:t>Shukla</a:t>
            </a:r>
            <a:r>
              <a:rPr lang="en-IN" dirty="0" smtClean="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Assistant Professor</a:t>
            </a:r>
          </a:p>
        </p:txBody>
      </p:sp>
      <p:pic>
        <p:nvPicPr>
          <p:cNvPr id="1026" name="Picture 2" descr="Dr. A. P. J. Abdul Kalam Technical University, Lucknow ...">
            <a:extLst>
              <a:ext uri="{FF2B5EF4-FFF2-40B4-BE49-F238E27FC236}">
                <a16:creationId xmlns="" xmlns:a16="http://schemas.microsoft.com/office/drawing/2014/main" id="{1DE315AE-3C8A-BD17-C3B0-2E8241D268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9191" y="148742"/>
            <a:ext cx="1104807" cy="110480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uddha Institute Of Technology, Gorakhpur">
            <a:extLst>
              <a:ext uri="{FF2B5EF4-FFF2-40B4-BE49-F238E27FC236}">
                <a16:creationId xmlns="" xmlns:a16="http://schemas.microsoft.com/office/drawing/2014/main" id="{8AF09B2D-6B48-77C3-8B5F-F3810B81C6A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6361" y="0"/>
            <a:ext cx="1482075" cy="148207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 xmlns:a16="http://schemas.microsoft.com/office/drawing/2014/main" id="{F4D57972-334C-4B71-66F9-608F4BD5AD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56110" y="298991"/>
            <a:ext cx="1860568" cy="804308"/>
          </a:xfrm>
          <a:prstGeom prst="rect">
            <a:avLst/>
          </a:prstGeom>
        </p:spPr>
      </p:pic>
      <p:pic>
        <p:nvPicPr>
          <p:cNvPr id="11" name="Picture 10">
            <a:extLst>
              <a:ext uri="{FF2B5EF4-FFF2-40B4-BE49-F238E27FC236}">
                <a16:creationId xmlns="" xmlns:a16="http://schemas.microsoft.com/office/drawing/2014/main" id="{330247B4-81AA-85DF-4CA1-56D07665F30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722375" y="171016"/>
            <a:ext cx="980466" cy="1140042"/>
          </a:xfrm>
          <a:prstGeom prst="rect">
            <a:avLst/>
          </a:prstGeom>
        </p:spPr>
      </p:pic>
    </p:spTree>
    <p:extLst>
      <p:ext uri="{BB962C8B-B14F-4D97-AF65-F5344CB8AC3E}">
        <p14:creationId xmlns:p14="http://schemas.microsoft.com/office/powerpoint/2010/main" val="23038565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7725" y="319310"/>
            <a:ext cx="2804575" cy="861790"/>
          </a:xfrm>
        </p:spPr>
        <p:txBody>
          <a:bodyPr/>
          <a:lstStyle/>
          <a:p>
            <a:r>
              <a:rPr lang="en-US" dirty="0">
                <a:solidFill>
                  <a:srgbClr val="0070C0"/>
                </a:solidFill>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1662112" y="1108787"/>
            <a:ext cx="10174288" cy="5749213"/>
          </a:xfrm>
        </p:spPr>
        <p:txBody>
          <a:bodyPr>
            <a:noAutofit/>
          </a:bodyPr>
          <a:lstStyle/>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Introduction</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Problem Statement</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Objectives</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Literature Review</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Methodology (Overview)</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Methodology (Flowchart)</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Implementation</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Results</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Analysis</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Discussion</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Conclusion</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Future Scope</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References</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Acknowledgment</a:t>
            </a:r>
          </a:p>
          <a:p>
            <a:pPr>
              <a:spcBef>
                <a:spcPts val="1200"/>
              </a:spcBef>
              <a:buFont typeface="Arial" panose="020B0604020202020204" pitchFamily="34" charset="0"/>
              <a:buChar char="•"/>
              <a:defRPr/>
            </a:pPr>
            <a:r>
              <a:rPr lang="en-US" sz="1400" dirty="0">
                <a:solidFill>
                  <a:schemeClr val="tx2">
                    <a:lumMod val="75000"/>
                  </a:schemeClr>
                </a:solidFill>
                <a:latin typeface="Times New Roman" panose="02020603050405020304" pitchFamily="18" charset="0"/>
                <a:cs typeface="Times New Roman" panose="02020603050405020304" pitchFamily="18" charset="0"/>
              </a:rPr>
              <a:t>Thank you</a:t>
            </a:r>
          </a:p>
          <a:p>
            <a:pPr>
              <a:spcBef>
                <a:spcPts val="1200"/>
              </a:spcBef>
              <a:buFont typeface="Arial" panose="020B0604020202020204" pitchFamily="34" charset="0"/>
              <a:buChar char="•"/>
              <a:defRPr/>
            </a:pPr>
            <a:endParaRPr lang="en-US" sz="1400" dirty="0">
              <a:solidFill>
                <a:schemeClr val="tx2">
                  <a:lumMod val="75000"/>
                </a:schemeClr>
              </a:solidFill>
            </a:endParaRPr>
          </a:p>
        </p:txBody>
      </p:sp>
    </p:spTree>
    <p:extLst>
      <p:ext uri="{BB962C8B-B14F-4D97-AF65-F5344CB8AC3E}">
        <p14:creationId xmlns:p14="http://schemas.microsoft.com/office/powerpoint/2010/main" val="28698624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8299" y="586640"/>
            <a:ext cx="8965359" cy="710884"/>
          </a:xfrm>
        </p:spPr>
        <p:txBody>
          <a:bodyPr/>
          <a:lstStyle/>
          <a:p>
            <a:r>
              <a:rPr lang="en-US" dirty="0">
                <a:solidFill>
                  <a:srgbClr val="0070C0"/>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1542046" y="1431834"/>
            <a:ext cx="5885449" cy="4522618"/>
          </a:xfrm>
        </p:spPr>
        <p:txBody>
          <a:bodyPr>
            <a:normAutofit/>
          </a:bodyPr>
          <a:lstStyle/>
          <a:p>
            <a:pPr algn="just">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Cement is a widely used construction material</a:t>
            </a:r>
            <a:r>
              <a:rPr lang="en-US" sz="14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1400" dirty="0" smtClean="0">
                <a:latin typeface="Times New Roman" panose="02020603050405020304" pitchFamily="18" charset="0"/>
                <a:cs typeface="Times New Roman" panose="02020603050405020304" pitchFamily="18" charset="0"/>
              </a:rPr>
              <a:t>Its </a:t>
            </a:r>
            <a:r>
              <a:rPr lang="en-US" sz="1400" dirty="0">
                <a:latin typeface="Times New Roman" panose="02020603050405020304" pitchFamily="18" charset="0"/>
                <a:cs typeface="Times New Roman" panose="02020603050405020304" pitchFamily="18" charset="0"/>
              </a:rPr>
              <a:t>production releases a large amount of CO₂, causing environmental pollution</a:t>
            </a:r>
            <a:r>
              <a:rPr lang="en-US" sz="14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1400" dirty="0" smtClean="0">
                <a:latin typeface="Times New Roman" panose="02020603050405020304" pitchFamily="18" charset="0"/>
                <a:cs typeface="Times New Roman" panose="02020603050405020304" pitchFamily="18" charset="0"/>
              </a:rPr>
              <a:t>There </a:t>
            </a:r>
            <a:r>
              <a:rPr lang="en-US" sz="1400" dirty="0">
                <a:latin typeface="Times New Roman" panose="02020603050405020304" pitchFamily="18" charset="0"/>
                <a:cs typeface="Times New Roman" panose="02020603050405020304" pitchFamily="18" charset="0"/>
              </a:rPr>
              <a:t>is a need for sustainable and eco-friendly alternatives</a:t>
            </a:r>
            <a:r>
              <a:rPr lang="en-US" sz="14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1400" dirty="0" smtClean="0">
                <a:latin typeface="Times New Roman" panose="02020603050405020304" pitchFamily="18" charset="0"/>
                <a:cs typeface="Times New Roman" panose="02020603050405020304" pitchFamily="18" charset="0"/>
              </a:rPr>
              <a:t>Agricultural </a:t>
            </a:r>
            <a:r>
              <a:rPr lang="en-US" sz="1400" dirty="0">
                <a:latin typeface="Times New Roman" panose="02020603050405020304" pitchFamily="18" charset="0"/>
                <a:cs typeface="Times New Roman" panose="02020603050405020304" pitchFamily="18" charset="0"/>
              </a:rPr>
              <a:t>waste ash is emerging as a potential replacement for cement</a:t>
            </a:r>
            <a:r>
              <a:rPr lang="en-US" sz="14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1400" dirty="0" smtClean="0">
                <a:latin typeface="Times New Roman" panose="02020603050405020304" pitchFamily="18" charset="0"/>
                <a:cs typeface="Times New Roman" panose="02020603050405020304" pitchFamily="18" charset="0"/>
              </a:rPr>
              <a:t>Examples </a:t>
            </a:r>
            <a:r>
              <a:rPr lang="en-US" sz="1400" dirty="0">
                <a:latin typeface="Times New Roman" panose="02020603050405020304" pitchFamily="18" charset="0"/>
                <a:cs typeface="Times New Roman" panose="02020603050405020304" pitchFamily="18" charset="0"/>
              </a:rPr>
              <a:t>include rice husk ash, bagasse ash, and other biomass ashes</a:t>
            </a:r>
            <a:r>
              <a:rPr lang="en-US" sz="14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1400" dirty="0" smtClean="0">
                <a:latin typeface="Times New Roman" panose="02020603050405020304" pitchFamily="18" charset="0"/>
                <a:cs typeface="Times New Roman" panose="02020603050405020304" pitchFamily="18" charset="0"/>
              </a:rPr>
              <a:t>These </a:t>
            </a:r>
            <a:r>
              <a:rPr lang="en-US" sz="1400" dirty="0">
                <a:latin typeface="Times New Roman" panose="02020603050405020304" pitchFamily="18" charset="0"/>
                <a:cs typeface="Times New Roman" panose="02020603050405020304" pitchFamily="18" charset="0"/>
              </a:rPr>
              <a:t>ashes contain silica, which helps improve concrete properties</a:t>
            </a:r>
            <a:r>
              <a:rPr lang="en-US" sz="14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1400" dirty="0" smtClean="0">
                <a:latin typeface="Times New Roman" panose="02020603050405020304" pitchFamily="18" charset="0"/>
                <a:cs typeface="Times New Roman" panose="02020603050405020304" pitchFamily="18" charset="0"/>
              </a:rPr>
              <a:t>Using </a:t>
            </a:r>
            <a:r>
              <a:rPr lang="en-US" sz="1400" dirty="0">
                <a:latin typeface="Times New Roman" panose="02020603050405020304" pitchFamily="18" charset="0"/>
                <a:cs typeface="Times New Roman" panose="02020603050405020304" pitchFamily="18" charset="0"/>
              </a:rPr>
              <a:t>agricultural waste reduces environmental waste disposal </a:t>
            </a:r>
            <a:r>
              <a:rPr lang="en-US" sz="1400" dirty="0" smtClean="0">
                <a:latin typeface="Times New Roman" panose="02020603050405020304" pitchFamily="18" charset="0"/>
                <a:cs typeface="Times New Roman" panose="02020603050405020304" pitchFamily="18" charset="0"/>
              </a:rPr>
              <a:t>problems</a:t>
            </a:r>
          </a:p>
          <a:p>
            <a:pPr algn="just">
              <a:buFont typeface="Wingdings" panose="05000000000000000000" pitchFamily="2" charset="2"/>
              <a:buChar char="§"/>
            </a:pPr>
            <a:r>
              <a:rPr lang="en-US" sz="1400" dirty="0" smtClean="0">
                <a:latin typeface="Times New Roman" panose="02020603050405020304" pitchFamily="18" charset="0"/>
                <a:cs typeface="Times New Roman" panose="02020603050405020304" pitchFamily="18" charset="0"/>
              </a:rPr>
              <a:t>It </a:t>
            </a:r>
            <a:r>
              <a:rPr lang="en-US" sz="1400" dirty="0">
                <a:latin typeface="Times New Roman" panose="02020603050405020304" pitchFamily="18" charset="0"/>
                <a:cs typeface="Times New Roman" panose="02020603050405020304" pitchFamily="18" charset="0"/>
              </a:rPr>
              <a:t>also decreases cement consumption and overall construction cost</a:t>
            </a:r>
            <a:r>
              <a:rPr lang="en-US" sz="14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1400" dirty="0" smtClean="0">
                <a:latin typeface="Times New Roman" panose="02020603050405020304" pitchFamily="18" charset="0"/>
                <a:cs typeface="Times New Roman" panose="02020603050405020304" pitchFamily="18" charset="0"/>
              </a:rPr>
              <a:t>This </a:t>
            </a:r>
            <a:r>
              <a:rPr lang="en-US" sz="1400" dirty="0">
                <a:latin typeface="Times New Roman" panose="02020603050405020304" pitchFamily="18" charset="0"/>
                <a:cs typeface="Times New Roman" panose="02020603050405020304" pitchFamily="18" charset="0"/>
              </a:rPr>
              <a:t>method supports sustainable development in the construction industry</a:t>
            </a:r>
          </a:p>
        </p:txBody>
      </p:sp>
      <p:sp>
        <p:nvSpPr>
          <p:cNvPr id="4" name="Content Placeholder 2">
            <a:extLst>
              <a:ext uri="{FF2B5EF4-FFF2-40B4-BE49-F238E27FC236}">
                <a16:creationId xmlns="" xmlns:a16="http://schemas.microsoft.com/office/drawing/2014/main" id="{D31CFBCC-3329-6979-1A3B-4A796650CEC9}"/>
              </a:ext>
            </a:extLst>
          </p:cNvPr>
          <p:cNvSpPr txBox="1">
            <a:spLocks/>
          </p:cNvSpPr>
          <p:nvPr/>
        </p:nvSpPr>
        <p:spPr>
          <a:xfrm>
            <a:off x="6972298" y="1167691"/>
            <a:ext cx="5885449" cy="452261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3022" y="1167691"/>
            <a:ext cx="4520024" cy="3345694"/>
          </a:xfrm>
          <a:prstGeom prst="rect">
            <a:avLst/>
          </a:prstGeom>
        </p:spPr>
      </p:pic>
    </p:spTree>
    <p:extLst>
      <p:ext uri="{BB962C8B-B14F-4D97-AF65-F5344CB8AC3E}">
        <p14:creationId xmlns:p14="http://schemas.microsoft.com/office/powerpoint/2010/main" val="16713588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0157" y="624857"/>
            <a:ext cx="5190950" cy="737778"/>
          </a:xfrm>
        </p:spPr>
        <p:txBody>
          <a:bodyPr/>
          <a:lstStyle/>
          <a:p>
            <a:r>
              <a:rPr lang="en-US" dirty="0">
                <a:solidFill>
                  <a:srgbClr val="0070C0"/>
                </a:solidFill>
                <a:latin typeface="Times New Roman" panose="02020603050405020304" pitchFamily="18" charset="0"/>
                <a:cs typeface="Times New Roman" panose="02020603050405020304" pitchFamily="18" charset="0"/>
              </a:rPr>
              <a:t>Problem Statement</a:t>
            </a:r>
          </a:p>
        </p:txBody>
      </p:sp>
      <p:sp>
        <p:nvSpPr>
          <p:cNvPr id="5" name="TextBox 4"/>
          <p:cNvSpPr txBox="1"/>
          <p:nvPr/>
        </p:nvSpPr>
        <p:spPr>
          <a:xfrm>
            <a:off x="11215500" y="6233890"/>
            <a:ext cx="578224" cy="369332"/>
          </a:xfrm>
          <a:prstGeom prst="rect">
            <a:avLst/>
          </a:prstGeom>
          <a:noFill/>
        </p:spPr>
        <p:txBody>
          <a:bodyPr wrap="square" rtlCol="0">
            <a:spAutoFit/>
          </a:bodyPr>
          <a:lstStyle/>
          <a:p>
            <a:r>
              <a:rPr lang="en-US" dirty="0"/>
              <a:t>2</a:t>
            </a:r>
          </a:p>
        </p:txBody>
      </p:sp>
      <p:sp>
        <p:nvSpPr>
          <p:cNvPr id="9" name="Content Placeholder 2">
            <a:extLst>
              <a:ext uri="{FF2B5EF4-FFF2-40B4-BE49-F238E27FC236}">
                <a16:creationId xmlns="" xmlns:a16="http://schemas.microsoft.com/office/drawing/2014/main" id="{D249F475-F946-2FE7-7C3E-EF3EA4B153A8}"/>
              </a:ext>
            </a:extLst>
          </p:cNvPr>
          <p:cNvSpPr>
            <a:spLocks noGrp="1"/>
          </p:cNvSpPr>
          <p:nvPr>
            <p:ph idx="1"/>
          </p:nvPr>
        </p:nvSpPr>
        <p:spPr>
          <a:xfrm>
            <a:off x="1460249" y="1362635"/>
            <a:ext cx="8915400" cy="5230830"/>
          </a:xfrm>
        </p:spPr>
        <p:txBody>
          <a:bodyPr>
            <a:normAutofit/>
          </a:bodyPr>
          <a:lstStyle/>
          <a:p>
            <a:pPr>
              <a:buFont typeface="+mj-lt"/>
              <a:buAutoNum type="alphaLcPeriod"/>
            </a:pPr>
            <a:r>
              <a:rPr lang="en-US" sz="1700" dirty="0">
                <a:latin typeface="Times New Roman" panose="02020603050405020304" pitchFamily="18" charset="0"/>
                <a:cs typeface="Times New Roman" panose="02020603050405020304" pitchFamily="18" charset="0"/>
              </a:rPr>
              <a:t>Cement production generates a high amount of CO₂ emissions, leading to environmental </a:t>
            </a:r>
            <a:r>
              <a:rPr lang="en-US" sz="1700" dirty="0" smtClean="0">
                <a:latin typeface="Times New Roman" panose="02020603050405020304" pitchFamily="18" charset="0"/>
                <a:cs typeface="Times New Roman" panose="02020603050405020304" pitchFamily="18" charset="0"/>
              </a:rPr>
              <a:t>pollution</a:t>
            </a:r>
          </a:p>
          <a:p>
            <a:pPr>
              <a:buFont typeface="+mj-lt"/>
              <a:buAutoNum type="alphaLcPeriod"/>
            </a:pPr>
            <a:r>
              <a:rPr lang="en-US" sz="1700" dirty="0" smtClean="0">
                <a:latin typeface="Times New Roman" panose="02020603050405020304" pitchFamily="18" charset="0"/>
                <a:cs typeface="Times New Roman" panose="02020603050405020304" pitchFamily="18" charset="0"/>
              </a:rPr>
              <a:t>.</a:t>
            </a:r>
            <a:r>
              <a:rPr lang="en-US" sz="1700" dirty="0">
                <a:latin typeface="Times New Roman" panose="02020603050405020304" pitchFamily="18" charset="0"/>
                <a:cs typeface="Times New Roman" panose="02020603050405020304" pitchFamily="18" charset="0"/>
              </a:rPr>
              <a:t>Increasing demand for cement is causing depletion of natural </a:t>
            </a:r>
            <a:r>
              <a:rPr lang="en-US" sz="1700" dirty="0" err="1">
                <a:latin typeface="Times New Roman" panose="02020603050405020304" pitchFamily="18" charset="0"/>
                <a:cs typeface="Times New Roman" panose="02020603050405020304" pitchFamily="18" charset="0"/>
              </a:rPr>
              <a:t>resources.Large</a:t>
            </a:r>
            <a:r>
              <a:rPr lang="en-US" sz="1700" dirty="0">
                <a:latin typeface="Times New Roman" panose="02020603050405020304" pitchFamily="18" charset="0"/>
                <a:cs typeface="Times New Roman" panose="02020603050405020304" pitchFamily="18" charset="0"/>
              </a:rPr>
              <a:t> quantities of agricultural waste are produced every year and often remain unused</a:t>
            </a:r>
            <a:r>
              <a:rPr lang="en-US" sz="1700" dirty="0" smtClean="0">
                <a:latin typeface="Times New Roman" panose="02020603050405020304" pitchFamily="18" charset="0"/>
                <a:cs typeface="Times New Roman" panose="02020603050405020304" pitchFamily="18" charset="0"/>
              </a:rPr>
              <a:t>.</a:t>
            </a:r>
          </a:p>
          <a:p>
            <a:pPr>
              <a:buFont typeface="+mj-lt"/>
              <a:buAutoNum type="alphaLcPeriod"/>
            </a:pPr>
            <a:r>
              <a:rPr lang="en-US" sz="1700" dirty="0" smtClean="0">
                <a:latin typeface="Times New Roman" panose="02020603050405020304" pitchFamily="18" charset="0"/>
                <a:cs typeface="Times New Roman" panose="02020603050405020304" pitchFamily="18" charset="0"/>
              </a:rPr>
              <a:t>Improper </a:t>
            </a:r>
            <a:r>
              <a:rPr lang="en-US" sz="1700" dirty="0">
                <a:latin typeface="Times New Roman" panose="02020603050405020304" pitchFamily="18" charset="0"/>
                <a:cs typeface="Times New Roman" panose="02020603050405020304" pitchFamily="18" charset="0"/>
              </a:rPr>
              <a:t>disposal of agricultural waste leads to environmental issues like air pollution</a:t>
            </a:r>
            <a:r>
              <a:rPr lang="en-US" sz="1700" dirty="0" smtClean="0">
                <a:latin typeface="Times New Roman" panose="02020603050405020304" pitchFamily="18" charset="0"/>
                <a:cs typeface="Times New Roman" panose="02020603050405020304" pitchFamily="18" charset="0"/>
              </a:rPr>
              <a:t>.</a:t>
            </a:r>
          </a:p>
          <a:p>
            <a:pPr>
              <a:buFont typeface="+mj-lt"/>
              <a:buAutoNum type="alphaLcPeriod"/>
            </a:pPr>
            <a:r>
              <a:rPr lang="en-US" sz="1700" dirty="0" smtClean="0">
                <a:latin typeface="Times New Roman" panose="02020603050405020304" pitchFamily="18" charset="0"/>
                <a:cs typeface="Times New Roman" panose="02020603050405020304" pitchFamily="18" charset="0"/>
              </a:rPr>
              <a:t>There </a:t>
            </a:r>
            <a:r>
              <a:rPr lang="en-US" sz="1700" dirty="0">
                <a:latin typeface="Times New Roman" panose="02020603050405020304" pitchFamily="18" charset="0"/>
                <a:cs typeface="Times New Roman" panose="02020603050405020304" pitchFamily="18" charset="0"/>
              </a:rPr>
              <a:t>is a lack of effective utilization of agricultural waste in construction</a:t>
            </a:r>
            <a:r>
              <a:rPr lang="en-US" sz="1700" dirty="0" smtClean="0">
                <a:latin typeface="Times New Roman" panose="02020603050405020304" pitchFamily="18" charset="0"/>
                <a:cs typeface="Times New Roman" panose="02020603050405020304" pitchFamily="18" charset="0"/>
              </a:rPr>
              <a:t>.</a:t>
            </a:r>
          </a:p>
          <a:p>
            <a:pPr>
              <a:buFont typeface="+mj-lt"/>
              <a:buAutoNum type="alphaLcPeriod"/>
            </a:pPr>
            <a:r>
              <a:rPr lang="en-US" sz="1700" dirty="0" smtClean="0">
                <a:latin typeface="Times New Roman" panose="02020603050405020304" pitchFamily="18" charset="0"/>
                <a:cs typeface="Times New Roman" panose="02020603050405020304" pitchFamily="18" charset="0"/>
              </a:rPr>
              <a:t>High </a:t>
            </a:r>
            <a:r>
              <a:rPr lang="en-US" sz="1700" dirty="0">
                <a:latin typeface="Times New Roman" panose="02020603050405020304" pitchFamily="18" charset="0"/>
                <a:cs typeface="Times New Roman" panose="02020603050405020304" pitchFamily="18" charset="0"/>
              </a:rPr>
              <a:t>cost of cement increases overall construction expenses</a:t>
            </a:r>
            <a:r>
              <a:rPr lang="en-US" sz="1700" dirty="0" smtClean="0">
                <a:latin typeface="Times New Roman" panose="02020603050405020304" pitchFamily="18" charset="0"/>
                <a:cs typeface="Times New Roman" panose="02020603050405020304" pitchFamily="18" charset="0"/>
              </a:rPr>
              <a:t>.</a:t>
            </a:r>
          </a:p>
          <a:p>
            <a:pPr>
              <a:buFont typeface="+mj-lt"/>
              <a:buAutoNum type="alphaLcPeriod"/>
            </a:pPr>
            <a:r>
              <a:rPr lang="en-US" sz="1700" dirty="0" smtClean="0">
                <a:latin typeface="Times New Roman" panose="02020603050405020304" pitchFamily="18" charset="0"/>
                <a:cs typeface="Times New Roman" panose="02020603050405020304" pitchFamily="18" charset="0"/>
              </a:rPr>
              <a:t>Need </a:t>
            </a:r>
            <a:r>
              <a:rPr lang="en-US" sz="1700" dirty="0">
                <a:latin typeface="Times New Roman" panose="02020603050405020304" pitchFamily="18" charset="0"/>
                <a:cs typeface="Times New Roman" panose="02020603050405020304" pitchFamily="18" charset="0"/>
              </a:rPr>
              <a:t>to find a sustainable, economical, and eco-friendly alternative to cement</a:t>
            </a:r>
          </a:p>
          <a:p>
            <a:pPr algn="just"/>
            <a:endParaRPr lang="en-US" dirty="0"/>
          </a:p>
        </p:txBody>
      </p:sp>
    </p:spTree>
    <p:extLst>
      <p:ext uri="{BB962C8B-B14F-4D97-AF65-F5344CB8AC3E}">
        <p14:creationId xmlns:p14="http://schemas.microsoft.com/office/powerpoint/2010/main" val="34912354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2825" y="642787"/>
            <a:ext cx="2734351" cy="643724"/>
          </a:xfrm>
        </p:spPr>
        <p:txBody>
          <a:bodyPr/>
          <a:lstStyle/>
          <a:p>
            <a:r>
              <a:rPr lang="en-US" dirty="0">
                <a:solidFill>
                  <a:srgbClr val="0070C0"/>
                </a:solidFill>
                <a:latin typeface="Times New Roman" panose="02020603050405020304" pitchFamily="18" charset="0"/>
                <a:cs typeface="Times New Roman" panose="02020603050405020304" pitchFamily="18" charset="0"/>
              </a:rPr>
              <a:t>Objective</a:t>
            </a:r>
          </a:p>
        </p:txBody>
      </p:sp>
      <p:sp>
        <p:nvSpPr>
          <p:cNvPr id="3" name="Content Placeholder 2"/>
          <p:cNvSpPr>
            <a:spLocks noGrp="1"/>
          </p:cNvSpPr>
          <p:nvPr>
            <p:ph idx="1"/>
          </p:nvPr>
        </p:nvSpPr>
        <p:spPr>
          <a:xfrm>
            <a:off x="1792825" y="1286512"/>
            <a:ext cx="9793942" cy="4928702"/>
          </a:xfrm>
        </p:spPr>
        <p:txBody>
          <a:bodyPr>
            <a:normAutofit/>
          </a:bodyPr>
          <a:lstStyle/>
          <a:p>
            <a:pPr marL="0" indent="0">
              <a:lnSpc>
                <a:spcPct val="120000"/>
              </a:lnSpc>
              <a:buNone/>
            </a:pPr>
            <a:r>
              <a:rPr lang="en-US" sz="1400" dirty="0" smtClean="0">
                <a:latin typeface="Times New Roman" panose="02020603050405020304" pitchFamily="18" charset="0"/>
                <a:cs typeface="Times New Roman" panose="02020603050405020304" pitchFamily="18" charset="0"/>
              </a:rPr>
              <a:t>The </a:t>
            </a:r>
            <a:r>
              <a:rPr lang="en-US" sz="1400" dirty="0">
                <a:latin typeface="Times New Roman" panose="02020603050405020304" pitchFamily="18" charset="0"/>
                <a:cs typeface="Times New Roman" panose="02020603050405020304" pitchFamily="18" charset="0"/>
              </a:rPr>
              <a:t>main objective of this study is to explore the use of agricultural waste ash as a partial replacement for cement in construction. It aims to reduce environmental pollution caused by cement production and utilize agricultural waste effectively. The study also focuses on improving the strength, durability, and cost-effectiveness of concrete by using eco-friendly materials.</a:t>
            </a:r>
          </a:p>
          <a:p>
            <a:pPr>
              <a:lnSpc>
                <a:spcPct val="120000"/>
              </a:lnSpc>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Reduction in Carbon Emissions (Low CO₂ Footprint). </a:t>
            </a:r>
          </a:p>
          <a:p>
            <a:pPr>
              <a:lnSpc>
                <a:spcPct val="120000"/>
              </a:lnSpc>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Utilization of Industrial Waste Materials (Fly Ash, GGBS, E-Waste). </a:t>
            </a:r>
          </a:p>
          <a:p>
            <a:pPr>
              <a:lnSpc>
                <a:spcPct val="120000"/>
              </a:lnSpc>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Conservation of Natural Resources. </a:t>
            </a:r>
          </a:p>
          <a:p>
            <a:pPr>
              <a:lnSpc>
                <a:spcPct val="120000"/>
              </a:lnSpc>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Enhancement of Mechanical Strength. </a:t>
            </a:r>
          </a:p>
          <a:p>
            <a:pPr>
              <a:lnSpc>
                <a:spcPct val="120000"/>
              </a:lnSpc>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Improvement in Durability and Chemical Resistance. </a:t>
            </a:r>
          </a:p>
          <a:p>
            <a:pPr>
              <a:lnSpc>
                <a:spcPct val="120000"/>
              </a:lnSpc>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Reduction in Heat of Hydration. </a:t>
            </a:r>
          </a:p>
          <a:p>
            <a:pPr>
              <a:lnSpc>
                <a:spcPct val="120000"/>
              </a:lnSpc>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Cost-Effective Construction Material. </a:t>
            </a:r>
          </a:p>
          <a:p>
            <a:pPr>
              <a:lnSpc>
                <a:spcPct val="120000"/>
              </a:lnSpc>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Development of Sustainable and Green Construction Practices. </a:t>
            </a:r>
          </a:p>
          <a:p>
            <a:pPr>
              <a:lnSpc>
                <a:spcPct val="120000"/>
              </a:lnSpc>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Improved Resistance to Sulphate and Acid Attack. </a:t>
            </a:r>
          </a:p>
          <a:p>
            <a:pPr>
              <a:lnSpc>
                <a:spcPct val="120000"/>
              </a:lnSpc>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Long-Term Performance and Structural Stability.</a:t>
            </a:r>
          </a:p>
          <a:p>
            <a:pPr marL="0" indent="0">
              <a:buNone/>
            </a:pPr>
            <a:endParaRPr lang="en-US" dirty="0"/>
          </a:p>
        </p:txBody>
      </p:sp>
      <p:sp>
        <p:nvSpPr>
          <p:cNvPr id="5" name="TextBox 4"/>
          <p:cNvSpPr txBox="1"/>
          <p:nvPr/>
        </p:nvSpPr>
        <p:spPr>
          <a:xfrm>
            <a:off x="11107924" y="6135808"/>
            <a:ext cx="578224" cy="369332"/>
          </a:xfrm>
          <a:prstGeom prst="rect">
            <a:avLst/>
          </a:prstGeom>
          <a:noFill/>
        </p:spPr>
        <p:txBody>
          <a:bodyPr wrap="square" rtlCol="0">
            <a:spAutoFit/>
          </a:bodyPr>
          <a:lstStyle/>
          <a:p>
            <a:r>
              <a:rPr lang="en-US" dirty="0"/>
              <a:t>3</a:t>
            </a:r>
          </a:p>
        </p:txBody>
      </p:sp>
    </p:spTree>
    <p:extLst>
      <p:ext uri="{BB962C8B-B14F-4D97-AF65-F5344CB8AC3E}">
        <p14:creationId xmlns:p14="http://schemas.microsoft.com/office/powerpoint/2010/main" val="34403516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330" y="624109"/>
            <a:ext cx="4948518" cy="680093"/>
          </a:xfrm>
        </p:spPr>
        <p:txBody>
          <a:bodyPr>
            <a:normAutofit/>
          </a:bodyPr>
          <a:lstStyle/>
          <a:p>
            <a:r>
              <a:rPr lang="en-US" dirty="0">
                <a:solidFill>
                  <a:srgbClr val="0070C0"/>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1694329" y="1416424"/>
            <a:ext cx="10174942" cy="4494798"/>
          </a:xfrm>
        </p:spPr>
        <p:txBody>
          <a:bodyPr>
            <a:normAutofit/>
          </a:bodyPr>
          <a:lstStyle/>
          <a:p>
            <a:pPr marL="0" indent="0" algn="just">
              <a:buNone/>
            </a:pPr>
            <a:r>
              <a:rPr lang="en-US" sz="1600" dirty="0">
                <a:latin typeface="Times New Roman" panose="02020603050405020304" pitchFamily="18" charset="0"/>
                <a:cs typeface="Times New Roman" panose="02020603050405020304" pitchFamily="18" charset="0"/>
              </a:rPr>
              <a:t> </a:t>
            </a:r>
            <a:endParaRPr lang="en-US" dirty="0"/>
          </a:p>
        </p:txBody>
      </p:sp>
      <p:sp>
        <p:nvSpPr>
          <p:cNvPr id="5" name="TextBox 4"/>
          <p:cNvSpPr txBox="1"/>
          <p:nvPr/>
        </p:nvSpPr>
        <p:spPr>
          <a:xfrm>
            <a:off x="11122544" y="6294216"/>
            <a:ext cx="578224" cy="369332"/>
          </a:xfrm>
          <a:prstGeom prst="rect">
            <a:avLst/>
          </a:prstGeom>
          <a:noFill/>
        </p:spPr>
        <p:txBody>
          <a:bodyPr wrap="square" rtlCol="0">
            <a:spAutoFit/>
          </a:bodyPr>
          <a:lstStyle/>
          <a:p>
            <a:r>
              <a:rPr lang="en-US" dirty="0"/>
              <a:t>4</a:t>
            </a:r>
          </a:p>
        </p:txBody>
      </p:sp>
      <p:graphicFrame>
        <p:nvGraphicFramePr>
          <p:cNvPr id="8" name="Table 7">
            <a:extLst>
              <a:ext uri="{FF2B5EF4-FFF2-40B4-BE49-F238E27FC236}">
                <a16:creationId xmlns="" xmlns:a16="http://schemas.microsoft.com/office/drawing/2014/main" id="{57682C7A-ABF1-2797-DFFD-CE49A347BF13}"/>
              </a:ext>
            </a:extLst>
          </p:cNvPr>
          <p:cNvGraphicFramePr>
            <a:graphicFrameLocks noGrp="1"/>
          </p:cNvGraphicFramePr>
          <p:nvPr>
            <p:extLst>
              <p:ext uri="{D42A27DB-BD31-4B8C-83A1-F6EECF244321}">
                <p14:modId xmlns:p14="http://schemas.microsoft.com/office/powerpoint/2010/main" val="603017686"/>
              </p:ext>
            </p:extLst>
          </p:nvPr>
        </p:nvGraphicFramePr>
        <p:xfrm>
          <a:off x="1344706" y="1537753"/>
          <a:ext cx="10110599" cy="4730039"/>
        </p:xfrm>
        <a:graphic>
          <a:graphicData uri="http://schemas.openxmlformats.org/drawingml/2006/table">
            <a:tbl>
              <a:tblPr firstRow="1" bandRow="1">
                <a:tableStyleId>{5940675A-B579-460E-94D1-54222C63F5DA}</a:tableStyleId>
              </a:tblPr>
              <a:tblGrid>
                <a:gridCol w="742482">
                  <a:extLst>
                    <a:ext uri="{9D8B030D-6E8A-4147-A177-3AD203B41FA5}">
                      <a16:colId xmlns="" xmlns:a16="http://schemas.microsoft.com/office/drawing/2014/main" val="1207805634"/>
                    </a:ext>
                  </a:extLst>
                </a:gridCol>
                <a:gridCol w="2151529">
                  <a:extLst>
                    <a:ext uri="{9D8B030D-6E8A-4147-A177-3AD203B41FA5}">
                      <a16:colId xmlns="" xmlns:a16="http://schemas.microsoft.com/office/drawing/2014/main" val="186712117"/>
                    </a:ext>
                  </a:extLst>
                </a:gridCol>
                <a:gridCol w="788894">
                  <a:extLst>
                    <a:ext uri="{9D8B030D-6E8A-4147-A177-3AD203B41FA5}">
                      <a16:colId xmlns="" xmlns:a16="http://schemas.microsoft.com/office/drawing/2014/main" val="3390983458"/>
                    </a:ext>
                  </a:extLst>
                </a:gridCol>
                <a:gridCol w="1757082">
                  <a:extLst>
                    <a:ext uri="{9D8B030D-6E8A-4147-A177-3AD203B41FA5}">
                      <a16:colId xmlns="" xmlns:a16="http://schemas.microsoft.com/office/drawing/2014/main" val="1552250960"/>
                    </a:ext>
                  </a:extLst>
                </a:gridCol>
                <a:gridCol w="4670612">
                  <a:extLst>
                    <a:ext uri="{9D8B030D-6E8A-4147-A177-3AD203B41FA5}">
                      <a16:colId xmlns="" xmlns:a16="http://schemas.microsoft.com/office/drawing/2014/main" val="3675227867"/>
                    </a:ext>
                  </a:extLst>
                </a:gridCol>
              </a:tblGrid>
              <a:tr h="405520">
                <a:tc>
                  <a:txBody>
                    <a:bodyPr/>
                    <a:lstStyle/>
                    <a:p>
                      <a:pPr algn="ctr"/>
                      <a:r>
                        <a:rPr lang="en-IN" sz="1400" dirty="0" err="1">
                          <a:latin typeface="Times New Roman" panose="02020603050405020304" pitchFamily="18" charset="0"/>
                          <a:cs typeface="Times New Roman" panose="02020603050405020304" pitchFamily="18" charset="0"/>
                        </a:rPr>
                        <a:t>S.No</a:t>
                      </a:r>
                      <a:r>
                        <a:rPr lang="en-IN" sz="1400" dirty="0">
                          <a:latin typeface="Times New Roman" panose="02020603050405020304" pitchFamily="18" charset="0"/>
                          <a:cs typeface="Times New Roman" panose="02020603050405020304" pitchFamily="18" charset="0"/>
                        </a:rPr>
                        <a:t>.</a:t>
                      </a:r>
                    </a:p>
                  </a:txBody>
                  <a:tcPr/>
                </a:tc>
                <a:tc>
                  <a:txBody>
                    <a:bodyPr/>
                    <a:lstStyle/>
                    <a:p>
                      <a:r>
                        <a:rPr lang="en-IN" sz="1400" dirty="0">
                          <a:latin typeface="Times New Roman" panose="02020603050405020304" pitchFamily="18" charset="0"/>
                          <a:cs typeface="Times New Roman" panose="02020603050405020304" pitchFamily="18" charset="0"/>
                        </a:rPr>
                        <a:t>Publisher</a:t>
                      </a:r>
                    </a:p>
                  </a:txBody>
                  <a:tcPr/>
                </a:tc>
                <a:tc>
                  <a:txBody>
                    <a:bodyPr/>
                    <a:lstStyle/>
                    <a:p>
                      <a:r>
                        <a:rPr lang="en-IN" sz="1400" dirty="0">
                          <a:latin typeface="Times New Roman" panose="02020603050405020304" pitchFamily="18" charset="0"/>
                          <a:cs typeface="Times New Roman" panose="02020603050405020304" pitchFamily="18" charset="0"/>
                        </a:rPr>
                        <a:t>Year</a:t>
                      </a:r>
                    </a:p>
                  </a:txBody>
                  <a:tcPr/>
                </a:tc>
                <a:tc>
                  <a:txBody>
                    <a:bodyPr/>
                    <a:lstStyle/>
                    <a:p>
                      <a:r>
                        <a:rPr lang="en-IN" sz="1400" dirty="0">
                          <a:latin typeface="Times New Roman" panose="02020603050405020304" pitchFamily="18" charset="0"/>
                          <a:cs typeface="Times New Roman" panose="02020603050405020304" pitchFamily="18" charset="0"/>
                        </a:rPr>
                        <a:t>Author</a:t>
                      </a:r>
                    </a:p>
                  </a:txBody>
                  <a:tcPr/>
                </a:tc>
                <a:tc>
                  <a:txBody>
                    <a:bodyPr/>
                    <a:lstStyle/>
                    <a:p>
                      <a:r>
                        <a:rPr lang="en-IN" sz="1400" dirty="0">
                          <a:latin typeface="Times New Roman" panose="02020603050405020304" pitchFamily="18" charset="0"/>
                          <a:cs typeface="Times New Roman" panose="02020603050405020304" pitchFamily="18" charset="0"/>
                        </a:rPr>
                        <a:t>Result/Findings</a:t>
                      </a:r>
                    </a:p>
                  </a:txBody>
                  <a:tcPr/>
                </a:tc>
                <a:extLst>
                  <a:ext uri="{0D108BD9-81ED-4DB2-BD59-A6C34878D82A}">
                    <a16:rowId xmlns="" xmlns:a16="http://schemas.microsoft.com/office/drawing/2014/main" val="2551858297"/>
                  </a:ext>
                </a:extLst>
              </a:tr>
              <a:tr h="976770">
                <a:tc>
                  <a:txBody>
                    <a:bodyPr/>
                    <a:lstStyle/>
                    <a:p>
                      <a:pPr algn="just"/>
                      <a:r>
                        <a:rPr lang="en-IN" sz="1400" dirty="0">
                          <a:latin typeface="Times New Roman" panose="02020603050405020304" pitchFamily="18" charset="0"/>
                          <a:cs typeface="Times New Roman" panose="02020603050405020304" pitchFamily="18" charset="0"/>
                        </a:rPr>
                        <a:t>1.</a:t>
                      </a:r>
                    </a:p>
                  </a:txBody>
                  <a:tcPr/>
                </a:tc>
                <a:tc>
                  <a:txBody>
                    <a:bodyPr/>
                    <a:lstStyle/>
                    <a:p>
                      <a:pPr algn="just"/>
                      <a:r>
                        <a:rPr lang="en-US" sz="1400" dirty="0">
                          <a:latin typeface="Times New Roman" panose="02020603050405020304" pitchFamily="18" charset="0"/>
                          <a:cs typeface="Times New Roman" panose="02020603050405020304" pitchFamily="18" charset="0"/>
                        </a:rPr>
                        <a:t>Construction and Building Materials </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dirty="0">
                          <a:latin typeface="Times New Roman" panose="02020603050405020304" pitchFamily="18" charset="0"/>
                          <a:cs typeface="Times New Roman" panose="02020603050405020304" pitchFamily="18" charset="0"/>
                        </a:rPr>
                        <a:t>2018</a:t>
                      </a:r>
                    </a:p>
                  </a:txBody>
                  <a:tcPr/>
                </a:tc>
                <a:tc>
                  <a:txBody>
                    <a:bodyPr/>
                    <a:lstStyle/>
                    <a:p>
                      <a:pPr algn="just"/>
                      <a:r>
                        <a:rPr lang="en-IN" sz="1400" dirty="0" err="1">
                          <a:latin typeface="Times New Roman" panose="02020603050405020304" pitchFamily="18" charset="0"/>
                          <a:cs typeface="Times New Roman" panose="02020603050405020304" pitchFamily="18" charset="0"/>
                        </a:rPr>
                        <a:t>P.k.</a:t>
                      </a:r>
                      <a:r>
                        <a:rPr lang="en-IN" sz="1400" dirty="0">
                          <a:latin typeface="Times New Roman" panose="02020603050405020304" pitchFamily="18" charset="0"/>
                          <a:cs typeface="Times New Roman" panose="02020603050405020304" pitchFamily="18" charset="0"/>
                        </a:rPr>
                        <a:t> Mehta, J.M. Khatib </a:t>
                      </a:r>
                    </a:p>
                  </a:txBody>
                  <a:tcPr/>
                </a:tc>
                <a:tc>
                  <a:txBody>
                    <a:bodyPr/>
                    <a:lstStyle/>
                    <a:p>
                      <a:pPr marL="400050" indent="-400050" algn="just">
                        <a:buFont typeface="+mj-lt"/>
                        <a:buAutoNum type="romanLcPeriod"/>
                      </a:pPr>
                      <a:r>
                        <a:rPr lang="en-US" sz="1400" dirty="0" err="1">
                          <a:latin typeface="Times New Roman" panose="02020603050405020304" pitchFamily="18" charset="0"/>
                          <a:cs typeface="Times New Roman" panose="02020603050405020304" pitchFamily="18" charset="0"/>
                        </a:rPr>
                        <a:t>i</a:t>
                      </a:r>
                      <a:r>
                        <a:rPr lang="en-US" sz="1400" dirty="0">
                          <a:latin typeface="Times New Roman" panose="02020603050405020304" pitchFamily="18" charset="0"/>
                          <a:cs typeface="Times New Roman" panose="02020603050405020304" pitchFamily="18" charset="0"/>
                        </a:rPr>
                        <a:t>. It was observed that incorporation of processed e-waste as fine aggregate in geopolymer concrete improved workability and reduced density.  ii. Compressive strength showed optimum results at 10–15% replacement, beyond which strength decreased due to weak bonding.</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879403767"/>
                  </a:ext>
                </a:extLst>
              </a:tr>
              <a:tr h="1563323">
                <a:tc>
                  <a:txBody>
                    <a:bodyPr/>
                    <a:lstStyle/>
                    <a:p>
                      <a:pPr algn="just"/>
                      <a:r>
                        <a:rPr lang="en-IN" sz="1400" dirty="0">
                          <a:latin typeface="Times New Roman" panose="02020603050405020304" pitchFamily="18" charset="0"/>
                          <a:cs typeface="Times New Roman" panose="02020603050405020304" pitchFamily="18" charset="0"/>
                        </a:rPr>
                        <a:t>2.</a:t>
                      </a:r>
                    </a:p>
                  </a:txBody>
                  <a:tcPr/>
                </a:tc>
                <a:tc>
                  <a:txBody>
                    <a:bodyPr/>
                    <a:lstStyle/>
                    <a:p>
                      <a:pPr algn="just"/>
                      <a:r>
                        <a:rPr lang="en-US" sz="1400" dirty="0">
                          <a:latin typeface="Times New Roman" panose="02020603050405020304" pitchFamily="18" charset="0"/>
                          <a:cs typeface="Times New Roman" panose="02020603050405020304" pitchFamily="18" charset="0"/>
                        </a:rPr>
                        <a:t>Journal of Cleaner Production </a:t>
                      </a:r>
                    </a:p>
                  </a:txBody>
                  <a:tcPr/>
                </a:tc>
                <a:tc>
                  <a:txBody>
                    <a:bodyPr/>
                    <a:lstStyle/>
                    <a:p>
                      <a:pPr algn="just"/>
                      <a:r>
                        <a:rPr lang="en-IN" sz="1400" dirty="0">
                          <a:latin typeface="Times New Roman" panose="02020603050405020304" pitchFamily="18" charset="0"/>
                          <a:cs typeface="Times New Roman" panose="02020603050405020304" pitchFamily="18" charset="0"/>
                        </a:rPr>
                        <a:t>2019</a:t>
                      </a:r>
                    </a:p>
                  </a:txBody>
                  <a:tcPr/>
                </a:tc>
                <a:tc>
                  <a:txBody>
                    <a:bodyPr/>
                    <a:lstStyle/>
                    <a:p>
                      <a:pPr algn="just"/>
                      <a:r>
                        <a:rPr lang="en-IN" sz="1400" dirty="0">
                          <a:latin typeface="Times New Roman" panose="02020603050405020304" pitchFamily="18" charset="0"/>
                          <a:cs typeface="Times New Roman" panose="02020603050405020304" pitchFamily="18" charset="0"/>
                        </a:rPr>
                        <a:t>S. Singhal, R. Gupta, A. Sharma </a:t>
                      </a:r>
                    </a:p>
                  </a:txBody>
                  <a:tcPr/>
                </a:tc>
                <a:tc>
                  <a:txBody>
                    <a:bodyPr/>
                    <a:lstStyle/>
                    <a:p>
                      <a:pPr marL="400050" indent="-400050" algn="just">
                        <a:buFont typeface="+mj-lt"/>
                        <a:buAutoNum type="romanLcPeriod"/>
                      </a:pPr>
                      <a:r>
                        <a:rPr lang="en-US" sz="1400" dirty="0">
                          <a:latin typeface="Times New Roman" panose="02020603050405020304" pitchFamily="18" charset="0"/>
                          <a:cs typeface="Times New Roman" panose="02020603050405020304" pitchFamily="18" charset="0"/>
                        </a:rPr>
                        <a:t>Utilization of e-waste in geopolymer concrete significantly reduced environmental impact by lowering CO₂ emissions compared to conventional concrete.  ii. The study concluded that proper treatment of e-waste particles enhances durability and resistance against chemical attack.</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453544692"/>
                  </a:ext>
                </a:extLst>
              </a:tr>
              <a:tr h="1389596">
                <a:tc>
                  <a:txBody>
                    <a:bodyPr/>
                    <a:lstStyle/>
                    <a:p>
                      <a:pPr algn="just"/>
                      <a:r>
                        <a:rPr lang="en-IN" sz="1400" dirty="0">
                          <a:latin typeface="Times New Roman" panose="02020603050405020304" pitchFamily="18" charset="0"/>
                          <a:cs typeface="Times New Roman" panose="02020603050405020304" pitchFamily="18" charset="0"/>
                        </a:rPr>
                        <a:t>3.</a:t>
                      </a:r>
                    </a:p>
                  </a:txBody>
                  <a:tcPr/>
                </a:tc>
                <a:tc>
                  <a:txBody>
                    <a:bodyPr/>
                    <a:lstStyle/>
                    <a:p>
                      <a:pPr algn="just"/>
                      <a:r>
                        <a:rPr lang="en-US" sz="1400" dirty="0">
                          <a:latin typeface="Times New Roman" panose="02020603050405020304" pitchFamily="18" charset="0"/>
                          <a:cs typeface="Times New Roman" panose="02020603050405020304" pitchFamily="18" charset="0"/>
                        </a:rPr>
                        <a:t>International journal of Civil Engineering Research </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dirty="0">
                          <a:latin typeface="Times New Roman" panose="02020603050405020304" pitchFamily="18" charset="0"/>
                          <a:cs typeface="Times New Roman" panose="02020603050405020304" pitchFamily="18" charset="0"/>
                        </a:rPr>
                        <a:t>2021</a:t>
                      </a:r>
                    </a:p>
                  </a:txBody>
                  <a:tcPr/>
                </a:tc>
                <a:tc>
                  <a:txBody>
                    <a:bodyPr/>
                    <a:lstStyle/>
                    <a:p>
                      <a:pPr algn="just"/>
                      <a:r>
                        <a:rPr lang="en-IN" sz="1400" dirty="0">
                          <a:latin typeface="Times New Roman" panose="02020603050405020304" pitchFamily="18" charset="0"/>
                          <a:cs typeface="Times New Roman" panose="02020603050405020304" pitchFamily="18" charset="0"/>
                        </a:rPr>
                        <a:t>M.R. Kumar, N. Verma </a:t>
                      </a:r>
                    </a:p>
                  </a:txBody>
                  <a:tcPr/>
                </a:tc>
                <a:tc>
                  <a:txBody>
                    <a:bodyPr/>
                    <a:lstStyle/>
                    <a:p>
                      <a:pPr marL="400050" indent="-400050" algn="just">
                        <a:buFont typeface="+mj-lt"/>
                        <a:buAutoNum type="romanLcPeriod"/>
                      </a:pPr>
                      <a:r>
                        <a:rPr lang="en-US" sz="1400" dirty="0">
                          <a:latin typeface="Times New Roman" panose="02020603050405020304" pitchFamily="18" charset="0"/>
                          <a:cs typeface="Times New Roman" panose="02020603050405020304" pitchFamily="18" charset="0"/>
                        </a:rPr>
                        <a:t>It was found that geopolymer concrete with e-waste exhibited good resistance to water absorption and permeability.  ii. Microstructural analysis revealed that e-waste particles contributed to improved pore structure, but excessive use reduced mechanical strength.</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291228104"/>
                  </a:ext>
                </a:extLst>
              </a:tr>
            </a:tbl>
          </a:graphicData>
        </a:graphic>
      </p:graphicFrame>
    </p:spTree>
    <p:extLst>
      <p:ext uri="{BB962C8B-B14F-4D97-AF65-F5344CB8AC3E}">
        <p14:creationId xmlns:p14="http://schemas.microsoft.com/office/powerpoint/2010/main" val="6704596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6494" y="551784"/>
            <a:ext cx="5883204" cy="676519"/>
          </a:xfrm>
        </p:spPr>
        <p:txBody>
          <a:bodyPr/>
          <a:lstStyle/>
          <a:p>
            <a:r>
              <a:rPr lang="en-US" dirty="0">
                <a:solidFill>
                  <a:srgbClr val="0070C0"/>
                </a:solidFill>
                <a:latin typeface="Times New Roman" panose="02020603050405020304" pitchFamily="18" charset="0"/>
                <a:cs typeface="Times New Roman" panose="02020603050405020304" pitchFamily="18" charset="0"/>
              </a:rPr>
              <a:t>Methodology (Overview)</a:t>
            </a:r>
          </a:p>
        </p:txBody>
      </p:sp>
      <p:sp>
        <p:nvSpPr>
          <p:cNvPr id="3" name="Content Placeholder 2"/>
          <p:cNvSpPr>
            <a:spLocks noGrp="1"/>
          </p:cNvSpPr>
          <p:nvPr>
            <p:ph idx="1"/>
          </p:nvPr>
        </p:nvSpPr>
        <p:spPr>
          <a:xfrm>
            <a:off x="1754725" y="1228303"/>
            <a:ext cx="9143464" cy="4907505"/>
          </a:xfrm>
        </p:spPr>
        <p:txBody>
          <a:bodyPr>
            <a:normAutofit fontScale="62500" lnSpcReduction="20000"/>
          </a:bodyPr>
          <a:lstStyle/>
          <a:p>
            <a:r>
              <a:rPr lang="en-US" b="1" dirty="0"/>
              <a:t>Material Collection and Preparation</a:t>
            </a:r>
            <a:r>
              <a:rPr lang="en-US" dirty="0"/>
              <a:t>:</a:t>
            </a:r>
          </a:p>
          <a:p>
            <a:pPr lvl="1"/>
            <a:r>
              <a:rPr lang="en-US" b="1" dirty="0"/>
              <a:t>Agricultural Waste</a:t>
            </a:r>
            <a:r>
              <a:rPr lang="en-US" dirty="0"/>
              <a:t>: Raw waste (e.g., rice husk, sugarcane bagasse) is collected from local farms or industries.</a:t>
            </a:r>
          </a:p>
          <a:p>
            <a:pPr lvl="1"/>
            <a:r>
              <a:rPr lang="en-US" b="1" dirty="0"/>
              <a:t>Incineration (Burning)</a:t>
            </a:r>
            <a:r>
              <a:rPr lang="en-US" dirty="0"/>
              <a:t>: The waste is burned under controlled temperatures (typically </a:t>
            </a:r>
          </a:p>
          <a:p>
            <a:pPr lvl="1"/>
            <a:r>
              <a:rPr lang="en-US" dirty="0"/>
              <a:t> to </a:t>
            </a:r>
            <a:r>
              <a:rPr lang="en-US" dirty="0" smtClean="0"/>
              <a:t>) </a:t>
            </a:r>
            <a:r>
              <a:rPr lang="en-US" dirty="0"/>
              <a:t>to produce ash with high amorphous silica content.</a:t>
            </a:r>
          </a:p>
          <a:p>
            <a:pPr lvl="1"/>
            <a:r>
              <a:rPr lang="en-US" b="1" dirty="0"/>
              <a:t>Sieving</a:t>
            </a:r>
            <a:r>
              <a:rPr lang="en-US" dirty="0"/>
              <a:t>: The resulting ash is sieved (usually through a </a:t>
            </a:r>
            <a:r>
              <a:rPr lang="en-US" dirty="0" smtClean="0"/>
              <a:t>-</a:t>
            </a:r>
            <a:r>
              <a:rPr lang="en-US" dirty="0"/>
              <a:t>micron or </a:t>
            </a:r>
            <a:r>
              <a:rPr lang="en-US" dirty="0" smtClean="0"/>
              <a:t>-</a:t>
            </a:r>
            <a:r>
              <a:rPr lang="en-US" dirty="0"/>
              <a:t>micron sieve) to achieve a fineness comparable to cement.</a:t>
            </a:r>
          </a:p>
          <a:p>
            <a:r>
              <a:rPr lang="en-US" b="1" dirty="0"/>
              <a:t>Mix Design and Proportions</a:t>
            </a:r>
            <a:r>
              <a:rPr lang="en-US" dirty="0"/>
              <a:t>:</a:t>
            </a:r>
          </a:p>
          <a:p>
            <a:pPr lvl="1"/>
            <a:r>
              <a:rPr lang="en-US" dirty="0"/>
              <a:t>A control mix (0% ash) is prepared using standard codes (e.g., IS 10262) for a specific grade like M20 or M25.</a:t>
            </a:r>
          </a:p>
          <a:p>
            <a:pPr lvl="1"/>
            <a:r>
              <a:rPr lang="en-US" dirty="0"/>
              <a:t>Experimental mixes are created by replacing cement with ash at proportions such as 5%, 10%, 15%, and 20% by weight.</a:t>
            </a:r>
          </a:p>
          <a:p>
            <a:r>
              <a:rPr lang="en-US" b="1" dirty="0"/>
              <a:t>Experimental Testing (Fresh State)</a:t>
            </a:r>
            <a:r>
              <a:rPr lang="en-US" dirty="0"/>
              <a:t>:</a:t>
            </a:r>
          </a:p>
          <a:p>
            <a:pPr lvl="1"/>
            <a:r>
              <a:rPr lang="en-US" b="1" dirty="0"/>
              <a:t>Workability</a:t>
            </a:r>
            <a:r>
              <a:rPr lang="en-US" dirty="0"/>
              <a:t>: Slump cone tests are performed to determine how ash affects the flow and consistency of the fresh concrete.</a:t>
            </a:r>
          </a:p>
          <a:p>
            <a:pPr lvl="1"/>
            <a:r>
              <a:rPr lang="en-US" b="1" dirty="0"/>
              <a:t>Setting Time</a:t>
            </a:r>
            <a:r>
              <a:rPr lang="en-US" dirty="0"/>
              <a:t>: Tests for initial and final setting times are conducted to observe the hydration process.</a:t>
            </a:r>
          </a:p>
          <a:p>
            <a:r>
              <a:rPr lang="en-US" b="1" dirty="0"/>
              <a:t>Casting and Curing</a:t>
            </a:r>
            <a:r>
              <a:rPr lang="en-US" dirty="0"/>
              <a:t>:</a:t>
            </a:r>
          </a:p>
          <a:p>
            <a:pPr lvl="1"/>
            <a:r>
              <a:rPr lang="en-US" dirty="0"/>
              <a:t>Standard specimen cubes  </a:t>
            </a:r>
            <a:r>
              <a:rPr lang="en-US" dirty="0" smtClean="0"/>
              <a:t>cylinders</a:t>
            </a:r>
            <a:r>
              <a:rPr lang="en-US" dirty="0"/>
              <a:t>, and beams are </a:t>
            </a:r>
            <a:r>
              <a:rPr lang="en-US" dirty="0" err="1" smtClean="0"/>
              <a:t>cast.Specimens</a:t>
            </a:r>
            <a:r>
              <a:rPr lang="en-US" dirty="0" smtClean="0"/>
              <a:t> </a:t>
            </a:r>
            <a:r>
              <a:rPr lang="en-US" dirty="0"/>
              <a:t>are </a:t>
            </a:r>
            <a:r>
              <a:rPr lang="en-US" dirty="0" err="1"/>
              <a:t>demoulded</a:t>
            </a:r>
            <a:r>
              <a:rPr lang="en-US" dirty="0"/>
              <a:t> after 24 hours and placed in a water curing tank for periods of 7, 14, and 28 days.</a:t>
            </a:r>
          </a:p>
          <a:p>
            <a:r>
              <a:rPr lang="en-US" b="1" dirty="0"/>
              <a:t>Hardened State Testing</a:t>
            </a:r>
            <a:r>
              <a:rPr lang="en-US" dirty="0"/>
              <a:t>:</a:t>
            </a:r>
          </a:p>
          <a:p>
            <a:pPr lvl="1"/>
            <a:r>
              <a:rPr lang="en-US" b="1" dirty="0"/>
              <a:t>Mechanical Strength</a:t>
            </a:r>
            <a:r>
              <a:rPr lang="en-US" dirty="0"/>
              <a:t>: Compressive, split tensile, and flexural strength tests are performed at the end of each curing period.</a:t>
            </a:r>
          </a:p>
          <a:p>
            <a:pPr lvl="1"/>
            <a:r>
              <a:rPr lang="en-US" b="1" dirty="0"/>
              <a:t>Durability</a:t>
            </a:r>
            <a:r>
              <a:rPr lang="en-US" dirty="0"/>
              <a:t>: Tests for water absorption, porosity, and chemical resistance (sulfate/acid attack) are conducted to assess long-term </a:t>
            </a:r>
            <a:r>
              <a:rPr lang="en-US" dirty="0" smtClean="0"/>
              <a:t>.</a:t>
            </a:r>
            <a:endParaRPr lang="en-US" sz="14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1042646" y="6135808"/>
            <a:ext cx="578224" cy="369332"/>
          </a:xfrm>
          <a:prstGeom prst="rect">
            <a:avLst/>
          </a:prstGeom>
          <a:noFill/>
        </p:spPr>
        <p:txBody>
          <a:bodyPr wrap="square" rtlCol="0">
            <a:spAutoFit/>
          </a:bodyPr>
          <a:lstStyle/>
          <a:p>
            <a:r>
              <a:rPr lang="en-US" dirty="0"/>
              <a:t>5</a:t>
            </a:r>
          </a:p>
        </p:txBody>
      </p:sp>
    </p:spTree>
    <p:extLst>
      <p:ext uri="{BB962C8B-B14F-4D97-AF65-F5344CB8AC3E}">
        <p14:creationId xmlns:p14="http://schemas.microsoft.com/office/powerpoint/2010/main" val="21478769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7610" y="631034"/>
            <a:ext cx="5985552" cy="747195"/>
          </a:xfrm>
        </p:spPr>
        <p:txBody>
          <a:bodyPr/>
          <a:lstStyle/>
          <a:p>
            <a:r>
              <a:rPr lang="en-US" dirty="0">
                <a:solidFill>
                  <a:srgbClr val="0070C0"/>
                </a:solidFill>
                <a:latin typeface="Times New Roman" panose="02020603050405020304" pitchFamily="18" charset="0"/>
                <a:cs typeface="Times New Roman" panose="02020603050405020304" pitchFamily="18" charset="0"/>
              </a:rPr>
              <a:t>Methodology (Flowchart)</a:t>
            </a:r>
          </a:p>
        </p:txBody>
      </p:sp>
      <p:sp>
        <p:nvSpPr>
          <p:cNvPr id="5" name="TextBox 4"/>
          <p:cNvSpPr txBox="1"/>
          <p:nvPr/>
        </p:nvSpPr>
        <p:spPr>
          <a:xfrm>
            <a:off x="11042646" y="6135808"/>
            <a:ext cx="578224" cy="369332"/>
          </a:xfrm>
          <a:prstGeom prst="rect">
            <a:avLst/>
          </a:prstGeom>
          <a:noFill/>
        </p:spPr>
        <p:txBody>
          <a:bodyPr wrap="square" rtlCol="0">
            <a:spAutoFit/>
          </a:bodyPr>
          <a:lstStyle/>
          <a:p>
            <a:r>
              <a:rPr lang="en-US" dirty="0"/>
              <a:t>6</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5300" y="1447800"/>
            <a:ext cx="8674099" cy="4483100"/>
          </a:xfrm>
          <a:prstGeom prst="rect">
            <a:avLst/>
          </a:prstGeom>
        </p:spPr>
      </p:pic>
    </p:spTree>
    <p:extLst>
      <p:ext uri="{BB962C8B-B14F-4D97-AF65-F5344CB8AC3E}">
        <p14:creationId xmlns:p14="http://schemas.microsoft.com/office/powerpoint/2010/main" val="3101815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9835" y="624110"/>
            <a:ext cx="4177554" cy="705269"/>
          </a:xfrm>
        </p:spPr>
        <p:txBody>
          <a:bodyPr/>
          <a:lstStyle/>
          <a:p>
            <a:r>
              <a:rPr lang="en-US" dirty="0">
                <a:solidFill>
                  <a:srgbClr val="0070C0"/>
                </a:solidFill>
                <a:latin typeface="Times New Roman" panose="02020603050405020304" pitchFamily="18" charset="0"/>
                <a:cs typeface="Times New Roman" panose="02020603050405020304" pitchFamily="18" charset="0"/>
              </a:rPr>
              <a:t>Implementation</a:t>
            </a:r>
          </a:p>
        </p:txBody>
      </p:sp>
      <p:sp>
        <p:nvSpPr>
          <p:cNvPr id="5" name="TextBox 4"/>
          <p:cNvSpPr txBox="1"/>
          <p:nvPr/>
        </p:nvSpPr>
        <p:spPr>
          <a:xfrm>
            <a:off x="11042646" y="6135808"/>
            <a:ext cx="578224" cy="369332"/>
          </a:xfrm>
          <a:prstGeom prst="rect">
            <a:avLst/>
          </a:prstGeom>
          <a:noFill/>
        </p:spPr>
        <p:txBody>
          <a:bodyPr wrap="square" rtlCol="0">
            <a:spAutoFit/>
          </a:bodyPr>
          <a:lstStyle/>
          <a:p>
            <a:r>
              <a:rPr lang="en-US" dirty="0"/>
              <a:t>7</a:t>
            </a:r>
          </a:p>
        </p:txBody>
      </p:sp>
      <p:sp>
        <p:nvSpPr>
          <p:cNvPr id="8" name="Content Placeholder 2">
            <a:extLst>
              <a:ext uri="{FF2B5EF4-FFF2-40B4-BE49-F238E27FC236}">
                <a16:creationId xmlns="" xmlns:a16="http://schemas.microsoft.com/office/drawing/2014/main" id="{49B2F9EF-38AB-DC21-4639-7A6454F95EA1}"/>
              </a:ext>
            </a:extLst>
          </p:cNvPr>
          <p:cNvSpPr txBox="1">
            <a:spLocks/>
          </p:cNvSpPr>
          <p:nvPr/>
        </p:nvSpPr>
        <p:spPr>
          <a:xfrm>
            <a:off x="1721420" y="1399276"/>
            <a:ext cx="9793942" cy="2223155"/>
          </a:xfrm>
          <a:prstGeom prst="rect">
            <a:avLst/>
          </a:prstGeom>
        </p:spPr>
        <p:txBody>
          <a:bodyPr vert="horz" lIns="91440" tIns="45720" rIns="91440" bIns="45720" rtlCol="0" anchor="b">
            <a:normAutofit/>
          </a:bodyPr>
          <a:lstStyle>
            <a:lvl1pPr marL="0" indent="0" algn="l" defTabSz="457200" rtl="0" eaLnBrk="1" latinLnBrk="0" hangingPunct="1">
              <a:spcBef>
                <a:spcPts val="1000"/>
              </a:spcBef>
              <a:spcAft>
                <a:spcPts val="0"/>
              </a:spcAft>
              <a:buClr>
                <a:schemeClr val="accent1"/>
              </a:buClr>
              <a:buFont typeface="Wingdings 3" charset="2"/>
              <a:buNone/>
              <a:defRPr sz="2400" b="0" kern="1200">
                <a:solidFill>
                  <a:schemeClr val="tx1">
                    <a:lumMod val="75000"/>
                    <a:lumOff val="2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Font typeface="Wingdings 3" charset="2"/>
              <a:buNone/>
              <a:defRPr sz="2000" b="1" kern="1200">
                <a:solidFill>
                  <a:schemeClr val="tx1">
                    <a:lumMod val="75000"/>
                    <a:lumOff val="2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Font typeface="Wingdings 3" charset="2"/>
              <a:buNone/>
              <a:defRPr sz="1800" b="1" kern="1200">
                <a:solidFill>
                  <a:schemeClr val="tx1">
                    <a:lumMod val="75000"/>
                    <a:lumOff val="2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Font typeface="Wingdings 3" charset="2"/>
              <a:buNone/>
              <a:defRPr sz="1600" b="1" kern="1200">
                <a:solidFill>
                  <a:schemeClr val="tx1">
                    <a:lumMod val="75000"/>
                    <a:lumOff val="2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Font typeface="Wingdings 3" charset="2"/>
              <a:buNone/>
              <a:defRPr sz="1600" b="1" kern="1200">
                <a:solidFill>
                  <a:schemeClr val="tx1">
                    <a:lumMod val="75000"/>
                    <a:lumOff val="2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Font typeface="Wingdings 3" charset="2"/>
              <a:buNone/>
              <a:defRPr sz="1600" b="1" kern="1200">
                <a:solidFill>
                  <a:schemeClr val="tx1">
                    <a:lumMod val="75000"/>
                    <a:lumOff val="2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Font typeface="Wingdings 3" charset="2"/>
              <a:buNone/>
              <a:defRPr sz="1600" b="1" kern="1200">
                <a:solidFill>
                  <a:schemeClr val="tx1">
                    <a:lumMod val="75000"/>
                    <a:lumOff val="2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Font typeface="Wingdings 3" charset="2"/>
              <a:buNone/>
              <a:defRPr sz="1600" b="1" kern="1200">
                <a:solidFill>
                  <a:schemeClr val="tx1">
                    <a:lumMod val="75000"/>
                    <a:lumOff val="2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Font typeface="Wingdings 3" charset="2"/>
              <a:buNone/>
              <a:defRPr sz="1600" b="1" kern="1200">
                <a:solidFill>
                  <a:schemeClr val="tx1">
                    <a:lumMod val="75000"/>
                    <a:lumOff val="25000"/>
                  </a:schemeClr>
                </a:solidFill>
                <a:latin typeface="+mn-lt"/>
                <a:ea typeface="+mn-ea"/>
                <a:cs typeface="+mn-cs"/>
              </a:defRPr>
            </a:lvl9pPr>
          </a:lstStyle>
          <a:p>
            <a:r>
              <a:rPr lang="en-US" sz="1400" b="1" dirty="0"/>
              <a:t>"The implementation phase of this study involved replacing Ordinary Portland Cement (OPC) with [Type of Ash] at levels of 5%, 10%, 15%, and 20% by </a:t>
            </a:r>
            <a:r>
              <a:rPr lang="en-US" sz="1400" b="1" dirty="0" smtClean="0"/>
              <a:t>weight.</a:t>
            </a:r>
          </a:p>
          <a:p>
            <a:r>
              <a:rPr lang="en-US" sz="1400" b="1" dirty="0" smtClean="0"/>
              <a:t>The </a:t>
            </a:r>
            <a:r>
              <a:rPr lang="en-US" sz="1400" b="1" dirty="0"/>
              <a:t>agricultural waste was initially incinerated at [Temperature]°C and sieved through a 90μm mesh to ensure uniformity. </a:t>
            </a:r>
            <a:endParaRPr lang="en-US" sz="1400" b="1" dirty="0" smtClean="0"/>
          </a:p>
          <a:p>
            <a:r>
              <a:rPr lang="en-US" sz="1400" b="1" dirty="0" smtClean="0"/>
              <a:t>A </a:t>
            </a:r>
            <a:r>
              <a:rPr lang="en-US" sz="1400" b="1" dirty="0"/>
              <a:t>control mix of [Grade, e.g., M25] was prepared as a reference. </a:t>
            </a:r>
            <a:endParaRPr lang="en-US" sz="1400" b="1" dirty="0" smtClean="0"/>
          </a:p>
          <a:p>
            <a:r>
              <a:rPr lang="en-US" sz="1400" b="1" dirty="0" smtClean="0"/>
              <a:t>Concrete </a:t>
            </a:r>
            <a:r>
              <a:rPr lang="en-US" sz="1400" b="1" dirty="0"/>
              <a:t>specimens were cast, cured in water, and subsequently tested for workability using the slump test and mechanical strength at 7 and 28 days."</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5505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576" y="594677"/>
            <a:ext cx="8326088" cy="720596"/>
          </a:xfrm>
        </p:spPr>
        <p:txBody>
          <a:bodyPr/>
          <a:lstStyle/>
          <a:p>
            <a:r>
              <a:rPr lang="en-US" dirty="0">
                <a:solidFill>
                  <a:srgbClr val="0070C0"/>
                </a:solidFill>
                <a:latin typeface="Times New Roman" panose="02020603050405020304" pitchFamily="18" charset="0"/>
                <a:cs typeface="Times New Roman" panose="02020603050405020304" pitchFamily="18" charset="0"/>
              </a:rPr>
              <a:t>Proposed</a:t>
            </a:r>
            <a:r>
              <a:rPr lang="en-US" dirty="0">
                <a:solidFill>
                  <a:srgbClr val="0070C0"/>
                </a:solidFill>
                <a:latin typeface="Times New Roman" panose="02020603050405020304" pitchFamily="18" charset="0"/>
                <a:ea typeface="Roboto Medium"/>
                <a:cs typeface="Times New Roman" panose="02020603050405020304" pitchFamily="18" charset="0"/>
              </a:rPr>
              <a:t> </a:t>
            </a:r>
            <a:r>
              <a:rPr lang="en-US" dirty="0">
                <a:solidFill>
                  <a:srgbClr val="0070C0"/>
                </a:solidFill>
                <a:latin typeface="Times New Roman" panose="02020603050405020304" pitchFamily="18" charset="0"/>
                <a:cs typeface="Times New Roman" panose="02020603050405020304" pitchFamily="18" charset="0"/>
              </a:rPr>
              <a:t>Methodology / Solution</a:t>
            </a:r>
          </a:p>
        </p:txBody>
      </p:sp>
      <p:sp>
        <p:nvSpPr>
          <p:cNvPr id="11" name="Content Placeholder 10">
            <a:extLst>
              <a:ext uri="{FF2B5EF4-FFF2-40B4-BE49-F238E27FC236}">
                <a16:creationId xmlns="" xmlns:a16="http://schemas.microsoft.com/office/drawing/2014/main" id="{DA52493D-9F72-9B55-57EA-A643B622FDAE}"/>
              </a:ext>
            </a:extLst>
          </p:cNvPr>
          <p:cNvSpPr>
            <a:spLocks noGrp="1"/>
          </p:cNvSpPr>
          <p:nvPr>
            <p:ph sz="half" idx="2"/>
          </p:nvPr>
        </p:nvSpPr>
        <p:spPr>
          <a:xfrm>
            <a:off x="1479175" y="1468086"/>
            <a:ext cx="9060487" cy="4106546"/>
          </a:xfrm>
        </p:spPr>
        <p:txBody>
          <a:bodyPr>
            <a:normAutofit fontScale="92500" lnSpcReduction="20000"/>
          </a:bodyPr>
          <a:lstStyle/>
          <a:p>
            <a:r>
              <a:rPr lang="en-US" sz="1600" b="1" dirty="0"/>
              <a:t>1. Proposed Solution</a:t>
            </a:r>
          </a:p>
          <a:p>
            <a:r>
              <a:rPr lang="en-US" sz="1600" dirty="0"/>
              <a:t>The proposed solution involves using agricultural waste ashes—such as </a:t>
            </a:r>
            <a:r>
              <a:rPr lang="en-US" sz="1600" b="1" dirty="0"/>
              <a:t>Rice Husk Ash (RHA)</a:t>
            </a:r>
            <a:r>
              <a:rPr lang="en-US" sz="1600" dirty="0"/>
              <a:t>, </a:t>
            </a:r>
            <a:r>
              <a:rPr lang="en-US" sz="1600" b="1" dirty="0"/>
              <a:t>Sugarcane Bagasse Ash (SCBA)</a:t>
            </a:r>
            <a:r>
              <a:rPr lang="en-US" sz="1600" dirty="0"/>
              <a:t>, or </a:t>
            </a:r>
            <a:r>
              <a:rPr lang="en-US" sz="1600" b="1" dirty="0"/>
              <a:t>Coconut Shell Ash (CSA)</a:t>
            </a:r>
            <a:r>
              <a:rPr lang="en-US" sz="1600" dirty="0"/>
              <a:t>—as supplementary </a:t>
            </a:r>
            <a:r>
              <a:rPr lang="en-US" sz="1600" dirty="0" err="1"/>
              <a:t>cementitious</a:t>
            </a:r>
            <a:r>
              <a:rPr lang="en-US" sz="1600" dirty="0"/>
              <a:t> materials (SCMs). These ashes are rich in </a:t>
            </a:r>
            <a:r>
              <a:rPr lang="en-US" sz="1600" b="1" dirty="0"/>
              <a:t>amorphous silica</a:t>
            </a:r>
            <a:r>
              <a:rPr lang="en-US" sz="1600" dirty="0"/>
              <a:t>, which reacts with calcium hydroxide during cement hydration to form additional </a:t>
            </a:r>
            <a:r>
              <a:rPr lang="en-US" sz="1600" b="1" dirty="0"/>
              <a:t>calcium silicate hydrate (C-S-H) gel</a:t>
            </a:r>
            <a:r>
              <a:rPr lang="en-US" sz="1600" dirty="0"/>
              <a:t>, thereby enhancing the strength and durability of the concrete. This approach provides a dual benefit: it reduces the carbon footprint of cement production and manages agricultural waste sustainably. MDPI +5</a:t>
            </a:r>
          </a:p>
          <a:p>
            <a:r>
              <a:rPr lang="en-US" sz="1600" b="1" dirty="0"/>
              <a:t>2. Proposed Methodology</a:t>
            </a:r>
          </a:p>
          <a:p>
            <a:r>
              <a:rPr lang="en-US" sz="1600" b="1" dirty="0"/>
              <a:t>Step 1: Collection and Preparation of Materials</a:t>
            </a:r>
          </a:p>
          <a:p>
            <a:r>
              <a:rPr lang="en-US" sz="1600" b="1" dirty="0"/>
              <a:t>Waste Collection</a:t>
            </a:r>
            <a:r>
              <a:rPr lang="en-US" sz="1600" dirty="0"/>
              <a:t>: Gather agricultural waste (e.g., rice husks or sugarcane bagasse) from local mills.</a:t>
            </a:r>
          </a:p>
          <a:p>
            <a:r>
              <a:rPr lang="en-US" sz="1600" b="1" dirty="0"/>
              <a:t>Incineration (Burning)</a:t>
            </a:r>
            <a:r>
              <a:rPr lang="en-US" sz="1600" dirty="0"/>
              <a:t>: Burn the waste under controlled temperatures (typically </a:t>
            </a:r>
            <a:r>
              <a:rPr lang="en-US" sz="1600" dirty="0" smtClean="0"/>
              <a:t> </a:t>
            </a:r>
            <a:r>
              <a:rPr lang="en-US" sz="1600" dirty="0"/>
              <a:t>to obtain ash with high reactive silica content.</a:t>
            </a:r>
          </a:p>
          <a:p>
            <a:r>
              <a:rPr lang="en-US" sz="1600" b="1" dirty="0"/>
              <a:t>Sieving and Grinding</a:t>
            </a:r>
            <a:r>
              <a:rPr lang="en-US" sz="1600" dirty="0"/>
              <a:t>: Grind the resulting ash and pass it through a standard </a:t>
            </a:r>
            <a:r>
              <a:rPr lang="en-US" sz="1600" dirty="0" smtClean="0"/>
              <a:t>sieve</a:t>
            </a:r>
          </a:p>
          <a:p>
            <a:r>
              <a:rPr lang="en-US" sz="1600" dirty="0" smtClean="0"/>
              <a:t> </a:t>
            </a:r>
            <a:r>
              <a:rPr lang="en-US" sz="1600" dirty="0"/>
              <a:t>(</a:t>
            </a:r>
            <a:r>
              <a:rPr lang="en-US" sz="1600" dirty="0" err="1" smtClean="0"/>
              <a:t>e.g</a:t>
            </a:r>
            <a:r>
              <a:rPr lang="en-US" sz="1600" dirty="0" smtClean="0"/>
              <a:t>  </a:t>
            </a:r>
            <a:r>
              <a:rPr lang="en-US" sz="1600" dirty="0"/>
              <a:t>to achieve a fineness similar to or greater than cement</a:t>
            </a:r>
          </a:p>
          <a:p>
            <a:pPr lvl="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endParaRPr lang="en-IN" dirty="0"/>
          </a:p>
        </p:txBody>
      </p:sp>
      <p:sp>
        <p:nvSpPr>
          <p:cNvPr id="5" name="TextBox 4"/>
          <p:cNvSpPr txBox="1"/>
          <p:nvPr/>
        </p:nvSpPr>
        <p:spPr>
          <a:xfrm>
            <a:off x="11352732" y="6280757"/>
            <a:ext cx="578224" cy="369332"/>
          </a:xfrm>
          <a:prstGeom prst="rect">
            <a:avLst/>
          </a:prstGeom>
          <a:noFill/>
        </p:spPr>
        <p:txBody>
          <a:bodyPr wrap="square" rtlCol="0">
            <a:spAutoFit/>
          </a:bodyPr>
          <a:lstStyle/>
          <a:p>
            <a:r>
              <a:rPr lang="en-US" dirty="0"/>
              <a:t>8</a:t>
            </a:r>
          </a:p>
        </p:txBody>
      </p:sp>
    </p:spTree>
    <p:extLst>
      <p:ext uri="{BB962C8B-B14F-4D97-AF65-F5344CB8AC3E}">
        <p14:creationId xmlns:p14="http://schemas.microsoft.com/office/powerpoint/2010/main" val="20142753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F5E3168-7085-AED7-E036-A94BBBF609EB}"/>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E88F543A-01B5-83B0-DE3C-49BDC17616C3}"/>
              </a:ext>
            </a:extLst>
          </p:cNvPr>
          <p:cNvSpPr>
            <a:spLocks noGrp="1"/>
          </p:cNvSpPr>
          <p:nvPr>
            <p:ph type="title"/>
          </p:nvPr>
        </p:nvSpPr>
        <p:spPr>
          <a:xfrm>
            <a:off x="1863890" y="604754"/>
            <a:ext cx="8911687" cy="1280890"/>
          </a:xfrm>
        </p:spPr>
        <p:txBody>
          <a:bodyPr/>
          <a:lstStyle/>
          <a:p>
            <a:r>
              <a:rPr lang="en-US" dirty="0">
                <a:solidFill>
                  <a:srgbClr val="0070C0"/>
                </a:solidFill>
                <a:latin typeface="Times New Roman" panose="02020603050405020304" pitchFamily="18" charset="0"/>
                <a:cs typeface="Times New Roman" panose="02020603050405020304" pitchFamily="18" charset="0"/>
              </a:rPr>
              <a:t>Results</a:t>
            </a:r>
          </a:p>
        </p:txBody>
      </p:sp>
      <p:sp>
        <p:nvSpPr>
          <p:cNvPr id="5" name="TextBox 4">
            <a:extLst>
              <a:ext uri="{FF2B5EF4-FFF2-40B4-BE49-F238E27FC236}">
                <a16:creationId xmlns="" xmlns:a16="http://schemas.microsoft.com/office/drawing/2014/main" id="{2ADCCB29-1369-9804-E32B-40CED1C45E65}"/>
              </a:ext>
            </a:extLst>
          </p:cNvPr>
          <p:cNvSpPr txBox="1"/>
          <p:nvPr/>
        </p:nvSpPr>
        <p:spPr>
          <a:xfrm>
            <a:off x="11215500" y="6049224"/>
            <a:ext cx="578224" cy="369332"/>
          </a:xfrm>
          <a:prstGeom prst="rect">
            <a:avLst/>
          </a:prstGeom>
          <a:noFill/>
        </p:spPr>
        <p:txBody>
          <a:bodyPr wrap="square" rtlCol="0">
            <a:spAutoFit/>
          </a:bodyPr>
          <a:lstStyle/>
          <a:p>
            <a:r>
              <a:rPr lang="en-US" dirty="0"/>
              <a:t>9</a:t>
            </a:r>
          </a:p>
        </p:txBody>
      </p:sp>
      <p:sp>
        <p:nvSpPr>
          <p:cNvPr id="30" name="TextBox 29">
            <a:extLst>
              <a:ext uri="{FF2B5EF4-FFF2-40B4-BE49-F238E27FC236}">
                <a16:creationId xmlns="" xmlns:a16="http://schemas.microsoft.com/office/drawing/2014/main" id="{12A71129-3341-9750-5768-7B07408A5464}"/>
              </a:ext>
            </a:extLst>
          </p:cNvPr>
          <p:cNvSpPr txBox="1"/>
          <p:nvPr/>
        </p:nvSpPr>
        <p:spPr>
          <a:xfrm>
            <a:off x="1416423" y="1435846"/>
            <a:ext cx="5460338" cy="369332"/>
          </a:xfrm>
          <a:prstGeom prst="rect">
            <a:avLst/>
          </a:prstGeom>
          <a:noFill/>
        </p:spPr>
        <p:txBody>
          <a:bodyPr wrap="square">
            <a:spAutoFit/>
          </a:bodyPr>
          <a:lstStyle/>
          <a:p>
            <a:endParaRPr lang="en-IN" dirty="0"/>
          </a:p>
        </p:txBody>
      </p:sp>
      <p:sp>
        <p:nvSpPr>
          <p:cNvPr id="48" name="Content Placeholder 2">
            <a:extLst>
              <a:ext uri="{FF2B5EF4-FFF2-40B4-BE49-F238E27FC236}">
                <a16:creationId xmlns="" xmlns:a16="http://schemas.microsoft.com/office/drawing/2014/main" id="{C66065D2-24E8-C701-FB23-6E8B473A679F}"/>
              </a:ext>
            </a:extLst>
          </p:cNvPr>
          <p:cNvSpPr txBox="1">
            <a:spLocks/>
          </p:cNvSpPr>
          <p:nvPr/>
        </p:nvSpPr>
        <p:spPr>
          <a:xfrm>
            <a:off x="1638299" y="1600276"/>
            <a:ext cx="9298641" cy="4522618"/>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dirty="0"/>
              <a:t/>
            </a:r>
            <a:br>
              <a:rPr lang="en-US" dirty="0"/>
            </a:br>
            <a:endParaRPr lang="en-US" dirty="0">
              <a:latin typeface="Times New Roman" panose="02020603050405020304" pitchFamily="18" charset="0"/>
              <a:cs typeface="Times New Roman" panose="02020603050405020304" pitchFamily="18" charset="0"/>
            </a:endParaRPr>
          </a:p>
        </p:txBody>
      </p:sp>
      <p:graphicFrame>
        <p:nvGraphicFramePr>
          <p:cNvPr id="49" name="Table 48">
            <a:extLst>
              <a:ext uri="{FF2B5EF4-FFF2-40B4-BE49-F238E27FC236}">
                <a16:creationId xmlns="" xmlns:a16="http://schemas.microsoft.com/office/drawing/2014/main" id="{851A7DE6-BC3C-83EC-0173-343B3E201F6C}"/>
              </a:ext>
            </a:extLst>
          </p:cNvPr>
          <p:cNvGraphicFramePr>
            <a:graphicFrameLocks noGrp="1"/>
          </p:cNvGraphicFramePr>
          <p:nvPr>
            <p:extLst>
              <p:ext uri="{D42A27DB-BD31-4B8C-83A1-F6EECF244321}">
                <p14:modId xmlns:p14="http://schemas.microsoft.com/office/powerpoint/2010/main" val="651407091"/>
              </p:ext>
            </p:extLst>
          </p:nvPr>
        </p:nvGraphicFramePr>
        <p:xfrm>
          <a:off x="1950795" y="1654233"/>
          <a:ext cx="6184400" cy="1605117"/>
        </p:xfrm>
        <a:graphic>
          <a:graphicData uri="http://schemas.openxmlformats.org/drawingml/2006/table">
            <a:tbl>
              <a:tblPr/>
              <a:tblGrid>
                <a:gridCol w="1546100">
                  <a:extLst>
                    <a:ext uri="{9D8B030D-6E8A-4147-A177-3AD203B41FA5}">
                      <a16:colId xmlns="" xmlns:a16="http://schemas.microsoft.com/office/drawing/2014/main" val="4197910926"/>
                    </a:ext>
                  </a:extLst>
                </a:gridCol>
                <a:gridCol w="1546100">
                  <a:extLst>
                    <a:ext uri="{9D8B030D-6E8A-4147-A177-3AD203B41FA5}">
                      <a16:colId xmlns="" xmlns:a16="http://schemas.microsoft.com/office/drawing/2014/main" val="399570318"/>
                    </a:ext>
                  </a:extLst>
                </a:gridCol>
                <a:gridCol w="1546100">
                  <a:extLst>
                    <a:ext uri="{9D8B030D-6E8A-4147-A177-3AD203B41FA5}">
                      <a16:colId xmlns="" xmlns:a16="http://schemas.microsoft.com/office/drawing/2014/main" val="2831940042"/>
                    </a:ext>
                  </a:extLst>
                </a:gridCol>
                <a:gridCol w="1546100">
                  <a:extLst>
                    <a:ext uri="{9D8B030D-6E8A-4147-A177-3AD203B41FA5}">
                      <a16:colId xmlns="" xmlns:a16="http://schemas.microsoft.com/office/drawing/2014/main" val="294830667"/>
                    </a:ext>
                  </a:extLst>
                </a:gridCol>
              </a:tblGrid>
              <a:tr h="0">
                <a:tc>
                  <a:txBody>
                    <a:bodyPr/>
                    <a:lstStyle/>
                    <a:p>
                      <a:pPr algn="l" fontAlgn="b" latinLnBrk="0">
                        <a:buNone/>
                      </a:pPr>
                      <a:r>
                        <a:rPr lang="en-IN" sz="1400" b="1">
                          <a:effectLst/>
                          <a:latin typeface="Times New Roman" panose="02020603050405020304" pitchFamily="18" charset="0"/>
                          <a:cs typeface="Times New Roman" panose="02020603050405020304" pitchFamily="18" charset="0"/>
                        </a:rPr>
                        <a:t>Mix (e‑waste %)</a:t>
                      </a:r>
                    </a:p>
                  </a:txBody>
                  <a:tcPr marL="60960" marR="60960" marT="60960" marB="60960" anchor="b">
                    <a:lnL w="12700" cap="flat" cmpd="sng" algn="ctr">
                      <a:solidFill>
                        <a:srgbClr val="107898"/>
                      </a:solidFill>
                      <a:prstDash val="solid"/>
                      <a:round/>
                      <a:headEnd type="none" w="med" len="med"/>
                      <a:tailEnd type="none" w="med" len="med"/>
                    </a:lnL>
                    <a:lnR w="12700" cap="flat" cmpd="sng" algn="ctr">
                      <a:solidFill>
                        <a:srgbClr val="F07E98"/>
                      </a:solidFill>
                      <a:prstDash val="solid"/>
                      <a:round/>
                      <a:headEnd type="none" w="med" len="med"/>
                      <a:tailEnd type="none" w="med" len="med"/>
                    </a:lnR>
                    <a:lnT w="12700" cap="flat" cmpd="sng" algn="ctr">
                      <a:solidFill>
                        <a:srgbClr val="107898"/>
                      </a:solidFill>
                      <a:prstDash val="solid"/>
                      <a:round/>
                      <a:headEnd type="none" w="med" len="med"/>
                      <a:tailEnd type="none" w="med" len="med"/>
                    </a:lnT>
                    <a:lnB w="12700" cap="flat" cmpd="sng" algn="ctr">
                      <a:solidFill>
                        <a:srgbClr val="208198"/>
                      </a:solidFill>
                      <a:prstDash val="solid"/>
                      <a:round/>
                      <a:headEnd type="none" w="med" len="med"/>
                      <a:tailEnd type="none" w="med" len="med"/>
                    </a:lnB>
                    <a:noFill/>
                  </a:tcPr>
                </a:tc>
                <a:tc>
                  <a:txBody>
                    <a:bodyPr/>
                    <a:lstStyle/>
                    <a:p>
                      <a:pPr algn="l" fontAlgn="b" latinLnBrk="0">
                        <a:buNone/>
                      </a:pPr>
                      <a:r>
                        <a:rPr lang="en-IN" sz="1400" b="1">
                          <a:effectLst/>
                          <a:latin typeface="Times New Roman" panose="02020603050405020304" pitchFamily="18" charset="0"/>
                          <a:cs typeface="Times New Roman" panose="02020603050405020304" pitchFamily="18" charset="0"/>
                        </a:rPr>
                        <a:t>7‑day (MPa)</a:t>
                      </a:r>
                    </a:p>
                  </a:txBody>
                  <a:tcPr marL="60960" marR="60960" marT="60960" marB="60960" anchor="b">
                    <a:lnL w="12700" cap="flat" cmpd="sng" algn="ctr">
                      <a:solidFill>
                        <a:srgbClr val="F07E98"/>
                      </a:solidFill>
                      <a:prstDash val="solid"/>
                      <a:round/>
                      <a:headEnd type="none" w="med" len="med"/>
                      <a:tailEnd type="none" w="med" len="med"/>
                    </a:lnL>
                    <a:lnR w="12700" cap="flat" cmpd="sng" algn="ctr">
                      <a:solidFill>
                        <a:srgbClr val="307698"/>
                      </a:solidFill>
                      <a:prstDash val="solid"/>
                      <a:round/>
                      <a:headEnd type="none" w="med" len="med"/>
                      <a:tailEnd type="none" w="med" len="med"/>
                    </a:lnR>
                    <a:lnT w="12700" cap="flat" cmpd="sng" algn="ctr">
                      <a:solidFill>
                        <a:srgbClr val="F07E98"/>
                      </a:solidFill>
                      <a:prstDash val="solid"/>
                      <a:round/>
                      <a:headEnd type="none" w="med" len="med"/>
                      <a:tailEnd type="none" w="med" len="med"/>
                    </a:lnT>
                    <a:lnB w="12700" cap="flat" cmpd="sng" algn="ctr">
                      <a:solidFill>
                        <a:srgbClr val="208198"/>
                      </a:solidFill>
                      <a:prstDash val="solid"/>
                      <a:round/>
                      <a:headEnd type="none" w="med" len="med"/>
                      <a:tailEnd type="none" w="med" len="med"/>
                    </a:lnB>
                    <a:noFill/>
                  </a:tcPr>
                </a:tc>
                <a:tc>
                  <a:txBody>
                    <a:bodyPr/>
                    <a:lstStyle/>
                    <a:p>
                      <a:pPr algn="l" fontAlgn="b" latinLnBrk="0">
                        <a:buNone/>
                      </a:pPr>
                      <a:r>
                        <a:rPr lang="en-IN" sz="1400" b="1">
                          <a:effectLst/>
                          <a:latin typeface="Times New Roman" panose="02020603050405020304" pitchFamily="18" charset="0"/>
                          <a:cs typeface="Times New Roman" panose="02020603050405020304" pitchFamily="18" charset="0"/>
                        </a:rPr>
                        <a:t>14‑day (MPa)</a:t>
                      </a:r>
                    </a:p>
                  </a:txBody>
                  <a:tcPr marL="60960" marR="60960" marT="60960" marB="60960" anchor="b">
                    <a:lnL w="12700" cap="flat" cmpd="sng" algn="ctr">
                      <a:solidFill>
                        <a:srgbClr val="307698"/>
                      </a:solidFill>
                      <a:prstDash val="solid"/>
                      <a:round/>
                      <a:headEnd type="none" w="med" len="med"/>
                      <a:tailEnd type="none" w="med" len="med"/>
                    </a:lnL>
                    <a:lnR w="12700" cap="flat" cmpd="sng" algn="ctr">
                      <a:solidFill>
                        <a:srgbClr val="307698"/>
                      </a:solidFill>
                      <a:prstDash val="solid"/>
                      <a:round/>
                      <a:headEnd type="none" w="med" len="med"/>
                      <a:tailEnd type="none" w="med" len="med"/>
                    </a:lnR>
                    <a:lnT w="12700" cap="flat" cmpd="sng" algn="ctr">
                      <a:solidFill>
                        <a:srgbClr val="307698"/>
                      </a:solidFill>
                      <a:prstDash val="solid"/>
                      <a:round/>
                      <a:headEnd type="none" w="med" len="med"/>
                      <a:tailEnd type="none" w="med" len="med"/>
                    </a:lnT>
                    <a:lnB w="12700" cap="flat" cmpd="sng" algn="ctr">
                      <a:solidFill>
                        <a:srgbClr val="F08898"/>
                      </a:solidFill>
                      <a:prstDash val="solid"/>
                      <a:round/>
                      <a:headEnd type="none" w="med" len="med"/>
                      <a:tailEnd type="none" w="med" len="med"/>
                    </a:lnB>
                    <a:noFill/>
                  </a:tcPr>
                </a:tc>
                <a:tc>
                  <a:txBody>
                    <a:bodyPr/>
                    <a:lstStyle/>
                    <a:p>
                      <a:pPr algn="l" fontAlgn="b" latinLnBrk="0">
                        <a:buNone/>
                      </a:pPr>
                      <a:r>
                        <a:rPr lang="en-IN" sz="1400" b="1" dirty="0">
                          <a:effectLst/>
                          <a:latin typeface="Times New Roman" panose="02020603050405020304" pitchFamily="18" charset="0"/>
                          <a:cs typeface="Times New Roman" panose="02020603050405020304" pitchFamily="18" charset="0"/>
                        </a:rPr>
                        <a:t>28‑day (MPa)</a:t>
                      </a:r>
                    </a:p>
                  </a:txBody>
                  <a:tcPr marL="60960" marR="60960" marT="60960" marB="60960" anchor="b">
                    <a:lnL w="12700" cap="flat" cmpd="sng" algn="ctr">
                      <a:solidFill>
                        <a:srgbClr val="307698"/>
                      </a:solidFill>
                      <a:prstDash val="solid"/>
                      <a:round/>
                      <a:headEnd type="none" w="med" len="med"/>
                      <a:tailEnd type="none" w="med" len="med"/>
                    </a:lnL>
                    <a:lnR w="12700" cap="flat" cmpd="sng" algn="ctr">
                      <a:solidFill>
                        <a:srgbClr val="307698"/>
                      </a:solidFill>
                      <a:prstDash val="solid"/>
                      <a:round/>
                      <a:headEnd type="none" w="med" len="med"/>
                      <a:tailEnd type="none" w="med" len="med"/>
                    </a:lnR>
                    <a:lnT w="12700" cap="flat" cmpd="sng" algn="ctr">
                      <a:solidFill>
                        <a:srgbClr val="307698"/>
                      </a:solidFill>
                      <a:prstDash val="solid"/>
                      <a:round/>
                      <a:headEnd type="none" w="med" len="med"/>
                      <a:tailEnd type="none" w="med" len="med"/>
                    </a:lnT>
                    <a:lnB w="12700" cap="flat" cmpd="sng" algn="ctr">
                      <a:solidFill>
                        <a:srgbClr val="208198"/>
                      </a:solidFill>
                      <a:prstDash val="solid"/>
                      <a:round/>
                      <a:headEnd type="none" w="med" len="med"/>
                      <a:tailEnd type="none" w="med" len="med"/>
                    </a:lnB>
                    <a:noFill/>
                  </a:tcPr>
                </a:tc>
                <a:extLst>
                  <a:ext uri="{0D108BD9-81ED-4DB2-BD59-A6C34878D82A}">
                    <a16:rowId xmlns="" xmlns:a16="http://schemas.microsoft.com/office/drawing/2014/main" val="889401836"/>
                  </a:ext>
                </a:extLst>
              </a:tr>
              <a:tr h="0">
                <a:tc>
                  <a:txBody>
                    <a:bodyPr/>
                    <a:lstStyle/>
                    <a:p>
                      <a:pPr fontAlgn="base" latinLnBrk="0">
                        <a:buNone/>
                      </a:pPr>
                      <a:r>
                        <a:rPr lang="en-IN" sz="1400">
                          <a:effectLst/>
                          <a:latin typeface="Times New Roman" panose="02020603050405020304" pitchFamily="18" charset="0"/>
                          <a:cs typeface="Times New Roman" panose="02020603050405020304" pitchFamily="18" charset="0"/>
                        </a:rPr>
                        <a:t>0%</a:t>
                      </a:r>
                    </a:p>
                  </a:txBody>
                  <a:tcPr marL="60960" marR="60960" anchor="ctr">
                    <a:lnL w="12700" cap="flat" cmpd="sng" algn="ctr">
                      <a:solidFill>
                        <a:srgbClr val="208198"/>
                      </a:solidFill>
                      <a:prstDash val="solid"/>
                      <a:round/>
                      <a:headEnd type="none" w="med" len="med"/>
                      <a:tailEnd type="none" w="med" len="med"/>
                    </a:lnL>
                    <a:lnR w="12700" cap="flat" cmpd="sng" algn="ctr">
                      <a:solidFill>
                        <a:srgbClr val="208198"/>
                      </a:solidFill>
                      <a:prstDash val="solid"/>
                      <a:round/>
                      <a:headEnd type="none" w="med" len="med"/>
                      <a:tailEnd type="none" w="med" len="med"/>
                    </a:lnR>
                    <a:lnT w="12700" cap="flat" cmpd="sng" algn="ctr">
                      <a:solidFill>
                        <a:srgbClr val="208198"/>
                      </a:solidFill>
                      <a:prstDash val="solid"/>
                      <a:round/>
                      <a:headEnd type="none" w="med" len="med"/>
                      <a:tailEnd type="none" w="med" len="med"/>
                    </a:lnT>
                    <a:lnB w="12700" cap="flat" cmpd="sng" algn="ctr">
                      <a:solidFill>
                        <a:srgbClr val="F08898"/>
                      </a:solidFill>
                      <a:prstDash val="solid"/>
                      <a:round/>
                      <a:headEnd type="none" w="med" len="med"/>
                      <a:tailEnd type="none" w="med" len="med"/>
                    </a:lnB>
                    <a:noFill/>
                  </a:tcPr>
                </a:tc>
                <a:tc>
                  <a:txBody>
                    <a:bodyPr/>
                    <a:lstStyle/>
                    <a:p>
                      <a:pPr fontAlgn="base" latinLnBrk="0">
                        <a:buNone/>
                      </a:pPr>
                      <a:r>
                        <a:rPr lang="en-IN" sz="1400" dirty="0">
                          <a:effectLst/>
                          <a:latin typeface="Times New Roman" panose="02020603050405020304" pitchFamily="18" charset="0"/>
                          <a:cs typeface="Times New Roman" panose="02020603050405020304" pitchFamily="18" charset="0"/>
                        </a:rPr>
                        <a:t>25–28</a:t>
                      </a:r>
                    </a:p>
                  </a:txBody>
                  <a:tcPr marL="60960" marR="60960" anchor="ctr">
                    <a:lnL w="12700" cap="flat" cmpd="sng" algn="ctr">
                      <a:solidFill>
                        <a:srgbClr val="208198"/>
                      </a:solidFill>
                      <a:prstDash val="solid"/>
                      <a:round/>
                      <a:headEnd type="none" w="med" len="med"/>
                      <a:tailEnd type="none" w="med" len="med"/>
                    </a:lnL>
                    <a:lnR w="12700" cap="flat" cmpd="sng" algn="ctr">
                      <a:solidFill>
                        <a:srgbClr val="F08898"/>
                      </a:solidFill>
                      <a:prstDash val="solid"/>
                      <a:round/>
                      <a:headEnd type="none" w="med" len="med"/>
                      <a:tailEnd type="none" w="med" len="med"/>
                    </a:lnR>
                    <a:lnT w="12700" cap="flat" cmpd="sng" algn="ctr">
                      <a:solidFill>
                        <a:srgbClr val="208198"/>
                      </a:solidFill>
                      <a:prstDash val="solid"/>
                      <a:round/>
                      <a:headEnd type="none" w="med" len="med"/>
                      <a:tailEnd type="none" w="med" len="med"/>
                    </a:lnT>
                    <a:lnB w="12700" cap="flat" cmpd="sng" algn="ctr">
                      <a:solidFill>
                        <a:srgbClr val="E08498"/>
                      </a:solidFill>
                      <a:prstDash val="solid"/>
                      <a:round/>
                      <a:headEnd type="none" w="med" len="med"/>
                      <a:tailEnd type="none" w="med" len="med"/>
                    </a:lnB>
                    <a:noFill/>
                  </a:tcPr>
                </a:tc>
                <a:tc>
                  <a:txBody>
                    <a:bodyPr/>
                    <a:lstStyle/>
                    <a:p>
                      <a:pPr fontAlgn="base" latinLnBrk="0">
                        <a:buNone/>
                      </a:pPr>
                      <a:r>
                        <a:rPr lang="en-IN" sz="1400">
                          <a:effectLst/>
                          <a:latin typeface="Times New Roman" panose="02020603050405020304" pitchFamily="18" charset="0"/>
                          <a:cs typeface="Times New Roman" panose="02020603050405020304" pitchFamily="18" charset="0"/>
                        </a:rPr>
                        <a:t>30–32</a:t>
                      </a:r>
                    </a:p>
                  </a:txBody>
                  <a:tcPr marL="60960" marR="60960" anchor="ctr">
                    <a:lnL w="12700" cap="flat" cmpd="sng" algn="ctr">
                      <a:solidFill>
                        <a:srgbClr val="F08898"/>
                      </a:solidFill>
                      <a:prstDash val="solid"/>
                      <a:round/>
                      <a:headEnd type="none" w="med" len="med"/>
                      <a:tailEnd type="none" w="med" len="med"/>
                    </a:lnL>
                    <a:lnR w="12700" cap="flat" cmpd="sng" algn="ctr">
                      <a:solidFill>
                        <a:srgbClr val="208198"/>
                      </a:solidFill>
                      <a:prstDash val="solid"/>
                      <a:round/>
                      <a:headEnd type="none" w="med" len="med"/>
                      <a:tailEnd type="none" w="med" len="med"/>
                    </a:lnR>
                    <a:lnT w="12700" cap="flat" cmpd="sng" algn="ctr">
                      <a:solidFill>
                        <a:srgbClr val="F08898"/>
                      </a:solidFill>
                      <a:prstDash val="solid"/>
                      <a:round/>
                      <a:headEnd type="none" w="med" len="med"/>
                      <a:tailEnd type="none" w="med" len="med"/>
                    </a:lnT>
                    <a:lnB w="12700" cap="flat" cmpd="sng" algn="ctr">
                      <a:solidFill>
                        <a:srgbClr val="E08498"/>
                      </a:solidFill>
                      <a:prstDash val="solid"/>
                      <a:round/>
                      <a:headEnd type="none" w="med" len="med"/>
                      <a:tailEnd type="none" w="med" len="med"/>
                    </a:lnB>
                    <a:noFill/>
                  </a:tcPr>
                </a:tc>
                <a:tc>
                  <a:txBody>
                    <a:bodyPr/>
                    <a:lstStyle/>
                    <a:p>
                      <a:pPr fontAlgn="base" latinLnBrk="0">
                        <a:buNone/>
                      </a:pPr>
                      <a:r>
                        <a:rPr lang="en-IN" sz="1400" dirty="0">
                          <a:effectLst/>
                          <a:latin typeface="Times New Roman" panose="02020603050405020304" pitchFamily="18" charset="0"/>
                          <a:cs typeface="Times New Roman" panose="02020603050405020304" pitchFamily="18" charset="0"/>
                        </a:rPr>
                        <a:t>32–35</a:t>
                      </a:r>
                    </a:p>
                  </a:txBody>
                  <a:tcPr marL="60960" marR="60960" anchor="ctr">
                    <a:lnL w="12700" cap="flat" cmpd="sng" algn="ctr">
                      <a:solidFill>
                        <a:srgbClr val="208198"/>
                      </a:solidFill>
                      <a:prstDash val="solid"/>
                      <a:round/>
                      <a:headEnd type="none" w="med" len="med"/>
                      <a:tailEnd type="none" w="med" len="med"/>
                    </a:lnL>
                    <a:lnR w="12700" cap="flat" cmpd="sng" algn="ctr">
                      <a:solidFill>
                        <a:srgbClr val="208198"/>
                      </a:solidFill>
                      <a:prstDash val="solid"/>
                      <a:round/>
                      <a:headEnd type="none" w="med" len="med"/>
                      <a:tailEnd type="none" w="med" len="med"/>
                    </a:lnR>
                    <a:lnT w="12700" cap="flat" cmpd="sng" algn="ctr">
                      <a:solidFill>
                        <a:srgbClr val="208198"/>
                      </a:solidFill>
                      <a:prstDash val="solid"/>
                      <a:round/>
                      <a:headEnd type="none" w="med" len="med"/>
                      <a:tailEnd type="none" w="med" len="med"/>
                    </a:lnT>
                    <a:lnB w="12700" cap="flat" cmpd="sng" algn="ctr">
                      <a:solidFill>
                        <a:srgbClr val="F07E98"/>
                      </a:solidFill>
                      <a:prstDash val="solid"/>
                      <a:round/>
                      <a:headEnd type="none" w="med" len="med"/>
                      <a:tailEnd type="none" w="med" len="med"/>
                    </a:lnB>
                    <a:noFill/>
                  </a:tcPr>
                </a:tc>
                <a:extLst>
                  <a:ext uri="{0D108BD9-81ED-4DB2-BD59-A6C34878D82A}">
                    <a16:rowId xmlns="" xmlns:a16="http://schemas.microsoft.com/office/drawing/2014/main" val="1524175903"/>
                  </a:ext>
                </a:extLst>
              </a:tr>
              <a:tr h="0">
                <a:tc>
                  <a:txBody>
                    <a:bodyPr/>
                    <a:lstStyle/>
                    <a:p>
                      <a:pPr fontAlgn="base" latinLnBrk="0">
                        <a:buNone/>
                      </a:pPr>
                      <a:r>
                        <a:rPr lang="en-IN" sz="1400">
                          <a:effectLst/>
                          <a:latin typeface="Times New Roman" panose="02020603050405020304" pitchFamily="18" charset="0"/>
                          <a:cs typeface="Times New Roman" panose="02020603050405020304" pitchFamily="18" charset="0"/>
                        </a:rPr>
                        <a:t>10%</a:t>
                      </a:r>
                    </a:p>
                  </a:txBody>
                  <a:tcPr marL="60960" marR="60960" anchor="ctr">
                    <a:lnL w="12700" cap="flat" cmpd="sng" algn="ctr">
                      <a:solidFill>
                        <a:srgbClr val="F08898"/>
                      </a:solidFill>
                      <a:prstDash val="solid"/>
                      <a:round/>
                      <a:headEnd type="none" w="med" len="med"/>
                      <a:tailEnd type="none" w="med" len="med"/>
                    </a:lnL>
                    <a:lnR w="12700" cap="flat" cmpd="sng" algn="ctr">
                      <a:solidFill>
                        <a:srgbClr val="E08498"/>
                      </a:solidFill>
                      <a:prstDash val="solid"/>
                      <a:round/>
                      <a:headEnd type="none" w="med" len="med"/>
                      <a:tailEnd type="none" w="med" len="med"/>
                    </a:lnR>
                    <a:lnT w="12700" cap="flat" cmpd="sng" algn="ctr">
                      <a:solidFill>
                        <a:srgbClr val="F08898"/>
                      </a:solidFill>
                      <a:prstDash val="solid"/>
                      <a:round/>
                      <a:headEnd type="none" w="med" len="med"/>
                      <a:tailEnd type="none" w="med" len="med"/>
                    </a:lnT>
                    <a:lnB w="12700" cap="flat" cmpd="sng" algn="ctr">
                      <a:solidFill>
                        <a:srgbClr val="F08898"/>
                      </a:solidFill>
                      <a:prstDash val="solid"/>
                      <a:round/>
                      <a:headEnd type="none" w="med" len="med"/>
                      <a:tailEnd type="none" w="med" len="med"/>
                    </a:lnB>
                    <a:noFill/>
                  </a:tcPr>
                </a:tc>
                <a:tc>
                  <a:txBody>
                    <a:bodyPr/>
                    <a:lstStyle/>
                    <a:p>
                      <a:pPr fontAlgn="base" latinLnBrk="0">
                        <a:buNone/>
                      </a:pPr>
                      <a:r>
                        <a:rPr lang="en-IN" sz="1400">
                          <a:effectLst/>
                          <a:latin typeface="Times New Roman" panose="02020603050405020304" pitchFamily="18" charset="0"/>
                          <a:cs typeface="Times New Roman" panose="02020603050405020304" pitchFamily="18" charset="0"/>
                        </a:rPr>
                        <a:t>27–30</a:t>
                      </a:r>
                    </a:p>
                  </a:txBody>
                  <a:tcPr marL="60960" marR="60960" anchor="ctr">
                    <a:lnL w="12700" cap="flat" cmpd="sng" algn="ctr">
                      <a:solidFill>
                        <a:srgbClr val="E08498"/>
                      </a:solidFill>
                      <a:prstDash val="solid"/>
                      <a:round/>
                      <a:headEnd type="none" w="med" len="med"/>
                      <a:tailEnd type="none" w="med" len="med"/>
                    </a:lnL>
                    <a:lnR w="12700" cap="flat" cmpd="sng" algn="ctr">
                      <a:solidFill>
                        <a:srgbClr val="E08498"/>
                      </a:solidFill>
                      <a:prstDash val="solid"/>
                      <a:round/>
                      <a:headEnd type="none" w="med" len="med"/>
                      <a:tailEnd type="none" w="med" len="med"/>
                    </a:lnR>
                    <a:lnT w="12700" cap="flat" cmpd="sng" algn="ctr">
                      <a:solidFill>
                        <a:srgbClr val="E08498"/>
                      </a:solidFill>
                      <a:prstDash val="solid"/>
                      <a:round/>
                      <a:headEnd type="none" w="med" len="med"/>
                      <a:tailEnd type="none" w="med" len="med"/>
                    </a:lnT>
                    <a:lnB w="12700" cap="flat" cmpd="sng" algn="ctr">
                      <a:solidFill>
                        <a:srgbClr val="F08898"/>
                      </a:solidFill>
                      <a:prstDash val="solid"/>
                      <a:round/>
                      <a:headEnd type="none" w="med" len="med"/>
                      <a:tailEnd type="none" w="med" len="med"/>
                    </a:lnB>
                    <a:noFill/>
                  </a:tcPr>
                </a:tc>
                <a:tc>
                  <a:txBody>
                    <a:bodyPr/>
                    <a:lstStyle/>
                    <a:p>
                      <a:pPr fontAlgn="base" latinLnBrk="0">
                        <a:buNone/>
                      </a:pPr>
                      <a:r>
                        <a:rPr lang="en-IN" sz="1400">
                          <a:effectLst/>
                          <a:latin typeface="Times New Roman" panose="02020603050405020304" pitchFamily="18" charset="0"/>
                          <a:cs typeface="Times New Roman" panose="02020603050405020304" pitchFamily="18" charset="0"/>
                        </a:rPr>
                        <a:t>33–36</a:t>
                      </a:r>
                    </a:p>
                  </a:txBody>
                  <a:tcPr marL="60960" marR="60960" anchor="ctr">
                    <a:lnL w="12700" cap="flat" cmpd="sng" algn="ctr">
                      <a:solidFill>
                        <a:srgbClr val="E08498"/>
                      </a:solidFill>
                      <a:prstDash val="solid"/>
                      <a:round/>
                      <a:headEnd type="none" w="med" len="med"/>
                      <a:tailEnd type="none" w="med" len="med"/>
                    </a:lnL>
                    <a:lnR w="12700" cap="flat" cmpd="sng" algn="ctr">
                      <a:solidFill>
                        <a:srgbClr val="F07E98"/>
                      </a:solidFill>
                      <a:prstDash val="solid"/>
                      <a:round/>
                      <a:headEnd type="none" w="med" len="med"/>
                      <a:tailEnd type="none" w="med" len="med"/>
                    </a:lnR>
                    <a:lnT w="12700" cap="flat" cmpd="sng" algn="ctr">
                      <a:solidFill>
                        <a:srgbClr val="E08498"/>
                      </a:solidFill>
                      <a:prstDash val="solid"/>
                      <a:round/>
                      <a:headEnd type="none" w="med" len="med"/>
                      <a:tailEnd type="none" w="med" len="med"/>
                    </a:lnT>
                    <a:lnB w="12700" cap="flat" cmpd="sng" algn="ctr">
                      <a:solidFill>
                        <a:srgbClr val="807698"/>
                      </a:solidFill>
                      <a:prstDash val="solid"/>
                      <a:round/>
                      <a:headEnd type="none" w="med" len="med"/>
                      <a:tailEnd type="none" w="med" len="med"/>
                    </a:lnB>
                    <a:noFill/>
                  </a:tcPr>
                </a:tc>
                <a:tc>
                  <a:txBody>
                    <a:bodyPr/>
                    <a:lstStyle/>
                    <a:p>
                      <a:pPr fontAlgn="base" latinLnBrk="0">
                        <a:buNone/>
                      </a:pPr>
                      <a:r>
                        <a:rPr lang="en-IN" sz="1400">
                          <a:effectLst/>
                          <a:latin typeface="Times New Roman" panose="02020603050405020304" pitchFamily="18" charset="0"/>
                          <a:cs typeface="Times New Roman" panose="02020603050405020304" pitchFamily="18" charset="0"/>
                        </a:rPr>
                        <a:t>36–39</a:t>
                      </a:r>
                    </a:p>
                  </a:txBody>
                  <a:tcPr marL="60960" marR="60960" anchor="ctr">
                    <a:lnL w="12700" cap="flat" cmpd="sng" algn="ctr">
                      <a:solidFill>
                        <a:srgbClr val="F07E98"/>
                      </a:solidFill>
                      <a:prstDash val="solid"/>
                      <a:round/>
                      <a:headEnd type="none" w="med" len="med"/>
                      <a:tailEnd type="none" w="med" len="med"/>
                    </a:lnL>
                    <a:lnR w="12700" cap="flat" cmpd="sng" algn="ctr">
                      <a:solidFill>
                        <a:srgbClr val="F07E98"/>
                      </a:solidFill>
                      <a:prstDash val="solid"/>
                      <a:round/>
                      <a:headEnd type="none" w="med" len="med"/>
                      <a:tailEnd type="none" w="med" len="med"/>
                    </a:lnR>
                    <a:lnT w="12700" cap="flat" cmpd="sng" algn="ctr">
                      <a:solidFill>
                        <a:srgbClr val="F07E98"/>
                      </a:solidFill>
                      <a:prstDash val="solid"/>
                      <a:round/>
                      <a:headEnd type="none" w="med" len="med"/>
                      <a:tailEnd type="none" w="med" len="med"/>
                    </a:lnT>
                    <a:lnB w="12700" cap="flat" cmpd="sng" algn="ctr">
                      <a:solidFill>
                        <a:srgbClr val="807698"/>
                      </a:solidFill>
                      <a:prstDash val="solid"/>
                      <a:round/>
                      <a:headEnd type="none" w="med" len="med"/>
                      <a:tailEnd type="none" w="med" len="med"/>
                    </a:lnB>
                    <a:noFill/>
                  </a:tcPr>
                </a:tc>
                <a:extLst>
                  <a:ext uri="{0D108BD9-81ED-4DB2-BD59-A6C34878D82A}">
                    <a16:rowId xmlns="" xmlns:a16="http://schemas.microsoft.com/office/drawing/2014/main" val="4216915882"/>
                  </a:ext>
                </a:extLst>
              </a:tr>
              <a:tr h="355437">
                <a:tc>
                  <a:txBody>
                    <a:bodyPr/>
                    <a:lstStyle/>
                    <a:p>
                      <a:pPr fontAlgn="base" latinLnBrk="0">
                        <a:buNone/>
                      </a:pPr>
                      <a:r>
                        <a:rPr lang="en-IN" sz="1400">
                          <a:effectLst/>
                          <a:latin typeface="Times New Roman" panose="02020603050405020304" pitchFamily="18" charset="0"/>
                          <a:cs typeface="Times New Roman" panose="02020603050405020304" pitchFamily="18" charset="0"/>
                        </a:rPr>
                        <a:t>20%</a:t>
                      </a:r>
                    </a:p>
                  </a:txBody>
                  <a:tcPr marL="60960" marR="60960" anchor="ctr">
                    <a:lnL w="12700" cap="flat" cmpd="sng" algn="ctr">
                      <a:solidFill>
                        <a:srgbClr val="F08898"/>
                      </a:solidFill>
                      <a:prstDash val="solid"/>
                      <a:round/>
                      <a:headEnd type="none" w="med" len="med"/>
                      <a:tailEnd type="none" w="med" len="med"/>
                    </a:lnL>
                    <a:lnR w="12700" cap="flat" cmpd="sng" algn="ctr">
                      <a:solidFill>
                        <a:srgbClr val="F08898"/>
                      </a:solidFill>
                      <a:prstDash val="solid"/>
                      <a:round/>
                      <a:headEnd type="none" w="med" len="med"/>
                      <a:tailEnd type="none" w="med" len="med"/>
                    </a:lnR>
                    <a:lnT w="12700" cap="flat" cmpd="sng" algn="ctr">
                      <a:solidFill>
                        <a:srgbClr val="F08898"/>
                      </a:solidFill>
                      <a:prstDash val="solid"/>
                      <a:round/>
                      <a:headEnd type="none" w="med" len="med"/>
                      <a:tailEnd type="none" w="med" len="med"/>
                    </a:lnT>
                    <a:lnB w="12700" cap="flat" cmpd="sng" algn="ctr">
                      <a:solidFill>
                        <a:srgbClr val="307698"/>
                      </a:solidFill>
                      <a:prstDash val="solid"/>
                      <a:round/>
                      <a:headEnd type="none" w="med" len="med"/>
                      <a:tailEnd type="none" w="med" len="med"/>
                    </a:lnB>
                    <a:noFill/>
                  </a:tcPr>
                </a:tc>
                <a:tc>
                  <a:txBody>
                    <a:bodyPr/>
                    <a:lstStyle/>
                    <a:p>
                      <a:pPr fontAlgn="base" latinLnBrk="0">
                        <a:buNone/>
                      </a:pPr>
                      <a:r>
                        <a:rPr lang="en-IN" sz="1400" dirty="0">
                          <a:effectLst/>
                          <a:latin typeface="Times New Roman" panose="02020603050405020304" pitchFamily="18" charset="0"/>
                          <a:cs typeface="Times New Roman" panose="02020603050405020304" pitchFamily="18" charset="0"/>
                        </a:rPr>
                        <a:t>28–31</a:t>
                      </a:r>
                    </a:p>
                  </a:txBody>
                  <a:tcPr marL="60960" marR="60960" anchor="ctr">
                    <a:lnL w="12700" cap="flat" cmpd="sng" algn="ctr">
                      <a:solidFill>
                        <a:srgbClr val="F08898"/>
                      </a:solidFill>
                      <a:prstDash val="solid"/>
                      <a:round/>
                      <a:headEnd type="none" w="med" len="med"/>
                      <a:tailEnd type="none" w="med" len="med"/>
                    </a:lnL>
                    <a:lnR w="12700" cap="flat" cmpd="sng" algn="ctr">
                      <a:solidFill>
                        <a:srgbClr val="807698"/>
                      </a:solidFill>
                      <a:prstDash val="solid"/>
                      <a:round/>
                      <a:headEnd type="none" w="med" len="med"/>
                      <a:tailEnd type="none" w="med" len="med"/>
                    </a:lnR>
                    <a:lnT w="12700" cap="flat" cmpd="sng" algn="ctr">
                      <a:solidFill>
                        <a:srgbClr val="F08898"/>
                      </a:solidFill>
                      <a:prstDash val="solid"/>
                      <a:round/>
                      <a:headEnd type="none" w="med" len="med"/>
                      <a:tailEnd type="none" w="med" len="med"/>
                    </a:lnT>
                    <a:lnB w="12700" cap="flat" cmpd="sng" algn="ctr">
                      <a:solidFill>
                        <a:srgbClr val="307698"/>
                      </a:solidFill>
                      <a:prstDash val="solid"/>
                      <a:round/>
                      <a:headEnd type="none" w="med" len="med"/>
                      <a:tailEnd type="none" w="med" len="med"/>
                    </a:lnB>
                    <a:noFill/>
                  </a:tcPr>
                </a:tc>
                <a:tc>
                  <a:txBody>
                    <a:bodyPr/>
                    <a:lstStyle/>
                    <a:p>
                      <a:pPr fontAlgn="base" latinLnBrk="0">
                        <a:buNone/>
                      </a:pPr>
                      <a:r>
                        <a:rPr lang="en-IN" sz="1400">
                          <a:effectLst/>
                          <a:latin typeface="Times New Roman" panose="02020603050405020304" pitchFamily="18" charset="0"/>
                          <a:cs typeface="Times New Roman" panose="02020603050405020304" pitchFamily="18" charset="0"/>
                        </a:rPr>
                        <a:t>35–37</a:t>
                      </a:r>
                    </a:p>
                  </a:txBody>
                  <a:tcPr marL="60960" marR="60960" anchor="ctr">
                    <a:lnL w="12700" cap="flat" cmpd="sng" algn="ctr">
                      <a:solidFill>
                        <a:srgbClr val="807698"/>
                      </a:solidFill>
                      <a:prstDash val="solid"/>
                      <a:round/>
                      <a:headEnd type="none" w="med" len="med"/>
                      <a:tailEnd type="none" w="med" len="med"/>
                    </a:lnL>
                    <a:lnR w="12700" cap="flat" cmpd="sng" algn="ctr">
                      <a:solidFill>
                        <a:srgbClr val="807698"/>
                      </a:solidFill>
                      <a:prstDash val="solid"/>
                      <a:round/>
                      <a:headEnd type="none" w="med" len="med"/>
                      <a:tailEnd type="none" w="med" len="med"/>
                    </a:lnR>
                    <a:lnT w="12700" cap="flat" cmpd="sng" algn="ctr">
                      <a:solidFill>
                        <a:srgbClr val="807698"/>
                      </a:solidFill>
                      <a:prstDash val="solid"/>
                      <a:round/>
                      <a:headEnd type="none" w="med" len="med"/>
                      <a:tailEnd type="none" w="med" len="med"/>
                    </a:lnT>
                    <a:lnB w="12700" cap="flat" cmpd="sng" algn="ctr">
                      <a:solidFill>
                        <a:srgbClr val="F07E98"/>
                      </a:solidFill>
                      <a:prstDash val="solid"/>
                      <a:round/>
                      <a:headEnd type="none" w="med" len="med"/>
                      <a:tailEnd type="none" w="med" len="med"/>
                    </a:lnB>
                    <a:noFill/>
                  </a:tcPr>
                </a:tc>
                <a:tc>
                  <a:txBody>
                    <a:bodyPr/>
                    <a:lstStyle/>
                    <a:p>
                      <a:pPr fontAlgn="base" latinLnBrk="0">
                        <a:buNone/>
                      </a:pPr>
                      <a:r>
                        <a:rPr lang="en-IN" sz="1400">
                          <a:effectLst/>
                          <a:latin typeface="Times New Roman" panose="02020603050405020304" pitchFamily="18" charset="0"/>
                          <a:cs typeface="Times New Roman" panose="02020603050405020304" pitchFamily="18" charset="0"/>
                        </a:rPr>
                        <a:t>38–41</a:t>
                      </a:r>
                    </a:p>
                  </a:txBody>
                  <a:tcPr marL="60960" marR="60960" anchor="ctr">
                    <a:lnL w="12700" cap="flat" cmpd="sng" algn="ctr">
                      <a:solidFill>
                        <a:srgbClr val="807698"/>
                      </a:solidFill>
                      <a:prstDash val="solid"/>
                      <a:round/>
                      <a:headEnd type="none" w="med" len="med"/>
                      <a:tailEnd type="none" w="med" len="med"/>
                    </a:lnL>
                    <a:lnR w="12700" cap="flat" cmpd="sng" algn="ctr">
                      <a:solidFill>
                        <a:srgbClr val="807698"/>
                      </a:solidFill>
                      <a:prstDash val="solid"/>
                      <a:round/>
                      <a:headEnd type="none" w="med" len="med"/>
                      <a:tailEnd type="none" w="med" len="med"/>
                    </a:lnR>
                    <a:lnT w="12700" cap="flat" cmpd="sng" algn="ctr">
                      <a:solidFill>
                        <a:srgbClr val="807698"/>
                      </a:solidFill>
                      <a:prstDash val="solid"/>
                      <a:round/>
                      <a:headEnd type="none" w="med" len="med"/>
                      <a:tailEnd type="none" w="med" len="med"/>
                    </a:lnT>
                    <a:lnB w="12700" cap="flat" cmpd="sng" algn="ctr">
                      <a:solidFill>
                        <a:srgbClr val="307698"/>
                      </a:solidFill>
                      <a:prstDash val="solid"/>
                      <a:round/>
                      <a:headEnd type="none" w="med" len="med"/>
                      <a:tailEnd type="none" w="med" len="med"/>
                    </a:lnB>
                    <a:noFill/>
                  </a:tcPr>
                </a:tc>
                <a:extLst>
                  <a:ext uri="{0D108BD9-81ED-4DB2-BD59-A6C34878D82A}">
                    <a16:rowId xmlns="" xmlns:a16="http://schemas.microsoft.com/office/drawing/2014/main" val="72813312"/>
                  </a:ext>
                </a:extLst>
              </a:tr>
              <a:tr h="0">
                <a:tc>
                  <a:txBody>
                    <a:bodyPr/>
                    <a:lstStyle/>
                    <a:p>
                      <a:pPr fontAlgn="base" latinLnBrk="0">
                        <a:buNone/>
                      </a:pPr>
                      <a:r>
                        <a:rPr lang="en-IN" sz="1400">
                          <a:effectLst/>
                          <a:latin typeface="Times New Roman" panose="02020603050405020304" pitchFamily="18" charset="0"/>
                          <a:cs typeface="Times New Roman" panose="02020603050405020304" pitchFamily="18" charset="0"/>
                        </a:rPr>
                        <a:t>30%</a:t>
                      </a:r>
                    </a:p>
                  </a:txBody>
                  <a:tcPr marL="60960" marR="60960" anchor="ctr">
                    <a:lnL w="12700" cap="flat" cmpd="sng" algn="ctr">
                      <a:solidFill>
                        <a:srgbClr val="307698"/>
                      </a:solidFill>
                      <a:prstDash val="solid"/>
                      <a:round/>
                      <a:headEnd type="none" w="med" len="med"/>
                      <a:tailEnd type="none" w="med" len="med"/>
                    </a:lnL>
                    <a:lnR w="12700" cap="flat" cmpd="sng" algn="ctr">
                      <a:solidFill>
                        <a:srgbClr val="307698"/>
                      </a:solidFill>
                      <a:prstDash val="solid"/>
                      <a:round/>
                      <a:headEnd type="none" w="med" len="med"/>
                      <a:tailEnd type="none" w="med" len="med"/>
                    </a:lnR>
                    <a:lnT w="12700" cap="flat" cmpd="sng" algn="ctr">
                      <a:solidFill>
                        <a:srgbClr val="307698"/>
                      </a:solidFill>
                      <a:prstDash val="solid"/>
                      <a:round/>
                      <a:headEnd type="none" w="med" len="med"/>
                      <a:tailEnd type="none" w="med" len="med"/>
                    </a:lnT>
                    <a:lnB w="12700" cap="flat" cmpd="sng" algn="ctr">
                      <a:solidFill>
                        <a:srgbClr val="307698"/>
                      </a:solidFill>
                      <a:prstDash val="solid"/>
                      <a:round/>
                      <a:headEnd type="none" w="med" len="med"/>
                      <a:tailEnd type="none" w="med" len="med"/>
                    </a:lnB>
                    <a:noFill/>
                  </a:tcPr>
                </a:tc>
                <a:tc>
                  <a:txBody>
                    <a:bodyPr/>
                    <a:lstStyle/>
                    <a:p>
                      <a:pPr fontAlgn="base" latinLnBrk="0">
                        <a:buNone/>
                      </a:pPr>
                      <a:r>
                        <a:rPr lang="en-IN" sz="1400">
                          <a:effectLst/>
                          <a:latin typeface="Times New Roman" panose="02020603050405020304" pitchFamily="18" charset="0"/>
                          <a:cs typeface="Times New Roman" panose="02020603050405020304" pitchFamily="18" charset="0"/>
                        </a:rPr>
                        <a:t>25–28</a:t>
                      </a:r>
                    </a:p>
                  </a:txBody>
                  <a:tcPr marL="60960" marR="60960" anchor="ctr">
                    <a:lnL w="12700" cap="flat" cmpd="sng" algn="ctr">
                      <a:solidFill>
                        <a:srgbClr val="307698"/>
                      </a:solidFill>
                      <a:prstDash val="solid"/>
                      <a:round/>
                      <a:headEnd type="none" w="med" len="med"/>
                      <a:tailEnd type="none" w="med" len="med"/>
                    </a:lnL>
                    <a:lnR w="12700" cap="flat" cmpd="sng" algn="ctr">
                      <a:solidFill>
                        <a:srgbClr val="F07E98"/>
                      </a:solidFill>
                      <a:prstDash val="solid"/>
                      <a:round/>
                      <a:headEnd type="none" w="med" len="med"/>
                      <a:tailEnd type="none" w="med" len="med"/>
                    </a:lnR>
                    <a:lnT w="12700" cap="flat" cmpd="sng" algn="ctr">
                      <a:solidFill>
                        <a:srgbClr val="307698"/>
                      </a:solidFill>
                      <a:prstDash val="solid"/>
                      <a:round/>
                      <a:headEnd type="none" w="med" len="med"/>
                      <a:tailEnd type="none" w="med" len="med"/>
                    </a:lnT>
                    <a:lnB w="12700" cap="flat" cmpd="sng" algn="ctr">
                      <a:solidFill>
                        <a:srgbClr val="307698"/>
                      </a:solidFill>
                      <a:prstDash val="solid"/>
                      <a:round/>
                      <a:headEnd type="none" w="med" len="med"/>
                      <a:tailEnd type="none" w="med" len="med"/>
                    </a:lnB>
                    <a:noFill/>
                  </a:tcPr>
                </a:tc>
                <a:tc>
                  <a:txBody>
                    <a:bodyPr/>
                    <a:lstStyle/>
                    <a:p>
                      <a:pPr fontAlgn="base" latinLnBrk="0">
                        <a:buNone/>
                      </a:pPr>
                      <a:r>
                        <a:rPr lang="en-IN" sz="1400">
                          <a:effectLst/>
                          <a:latin typeface="Times New Roman" panose="02020603050405020304" pitchFamily="18" charset="0"/>
                          <a:cs typeface="Times New Roman" panose="02020603050405020304" pitchFamily="18" charset="0"/>
                        </a:rPr>
                        <a:t>30–33</a:t>
                      </a:r>
                    </a:p>
                  </a:txBody>
                  <a:tcPr marL="60960" marR="60960" anchor="ctr">
                    <a:lnL w="12700" cap="flat" cmpd="sng" algn="ctr">
                      <a:solidFill>
                        <a:srgbClr val="F07E98"/>
                      </a:solidFill>
                      <a:prstDash val="solid"/>
                      <a:round/>
                      <a:headEnd type="none" w="med" len="med"/>
                      <a:tailEnd type="none" w="med" len="med"/>
                    </a:lnL>
                    <a:lnR w="12700" cap="flat" cmpd="sng" algn="ctr">
                      <a:solidFill>
                        <a:srgbClr val="307698"/>
                      </a:solidFill>
                      <a:prstDash val="solid"/>
                      <a:round/>
                      <a:headEnd type="none" w="med" len="med"/>
                      <a:tailEnd type="none" w="med" len="med"/>
                    </a:lnR>
                    <a:lnT w="12700" cap="flat" cmpd="sng" algn="ctr">
                      <a:solidFill>
                        <a:srgbClr val="F07E98"/>
                      </a:solidFill>
                      <a:prstDash val="solid"/>
                      <a:round/>
                      <a:headEnd type="none" w="med" len="med"/>
                      <a:tailEnd type="none" w="med" len="med"/>
                    </a:lnT>
                    <a:lnB w="12700" cap="flat" cmpd="sng" algn="ctr">
                      <a:solidFill>
                        <a:srgbClr val="F07E98"/>
                      </a:solidFill>
                      <a:prstDash val="solid"/>
                      <a:round/>
                      <a:headEnd type="none" w="med" len="med"/>
                      <a:tailEnd type="none" w="med" len="med"/>
                    </a:lnB>
                    <a:noFill/>
                  </a:tcPr>
                </a:tc>
                <a:tc>
                  <a:txBody>
                    <a:bodyPr/>
                    <a:lstStyle/>
                    <a:p>
                      <a:pPr fontAlgn="base" latinLnBrk="0">
                        <a:buNone/>
                      </a:pPr>
                      <a:r>
                        <a:rPr lang="en-IN" sz="1400" dirty="0">
                          <a:effectLst/>
                          <a:latin typeface="Times New Roman" panose="02020603050405020304" pitchFamily="18" charset="0"/>
                          <a:cs typeface="Times New Roman" panose="02020603050405020304" pitchFamily="18" charset="0"/>
                        </a:rPr>
                        <a:t>32–35</a:t>
                      </a:r>
                    </a:p>
                  </a:txBody>
                  <a:tcPr marL="60960" marR="60960" anchor="ctr">
                    <a:lnL w="12700" cap="flat" cmpd="sng" algn="ctr">
                      <a:solidFill>
                        <a:srgbClr val="307698"/>
                      </a:solidFill>
                      <a:prstDash val="solid"/>
                      <a:round/>
                      <a:headEnd type="none" w="med" len="med"/>
                      <a:tailEnd type="none" w="med" len="med"/>
                    </a:lnL>
                    <a:lnR w="12700" cap="flat" cmpd="sng" algn="ctr">
                      <a:solidFill>
                        <a:srgbClr val="307698"/>
                      </a:solidFill>
                      <a:prstDash val="solid"/>
                      <a:round/>
                      <a:headEnd type="none" w="med" len="med"/>
                      <a:tailEnd type="none" w="med" len="med"/>
                    </a:lnR>
                    <a:lnT w="12700" cap="flat" cmpd="sng" algn="ctr">
                      <a:solidFill>
                        <a:srgbClr val="307698"/>
                      </a:solidFill>
                      <a:prstDash val="solid"/>
                      <a:round/>
                      <a:headEnd type="none" w="med" len="med"/>
                      <a:tailEnd type="none" w="med" len="med"/>
                    </a:lnT>
                    <a:lnB w="12700" cap="flat" cmpd="sng" algn="ctr">
                      <a:solidFill>
                        <a:srgbClr val="307698"/>
                      </a:solidFill>
                      <a:prstDash val="solid"/>
                      <a:round/>
                      <a:headEnd type="none" w="med" len="med"/>
                      <a:tailEnd type="none" w="med" len="med"/>
                    </a:lnB>
                    <a:noFill/>
                  </a:tcPr>
                </a:tc>
                <a:extLst>
                  <a:ext uri="{0D108BD9-81ED-4DB2-BD59-A6C34878D82A}">
                    <a16:rowId xmlns="" xmlns:a16="http://schemas.microsoft.com/office/drawing/2014/main" val="965796130"/>
                  </a:ext>
                </a:extLst>
              </a:tr>
            </a:tbl>
          </a:graphicData>
        </a:graphic>
      </p:graphicFrame>
      <p:sp>
        <p:nvSpPr>
          <p:cNvPr id="50" name="Rectangle 21">
            <a:extLst>
              <a:ext uri="{FF2B5EF4-FFF2-40B4-BE49-F238E27FC236}">
                <a16:creationId xmlns="" xmlns:a16="http://schemas.microsoft.com/office/drawing/2014/main" id="{B1408003-7808-FAD4-8772-E393E5C2CC43}"/>
              </a:ext>
            </a:extLst>
          </p:cNvPr>
          <p:cNvSpPr>
            <a:spLocks noChangeArrowheads="1"/>
          </p:cNvSpPr>
          <p:nvPr/>
        </p:nvSpPr>
        <p:spPr bwMode="auto">
          <a:xfrm>
            <a:off x="1863890" y="3505404"/>
            <a:ext cx="9191753" cy="1985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sz="1400" b="1" dirty="0">
                <a:latin typeface="Times New Roman" panose="02020603050405020304" pitchFamily="18" charset="0"/>
                <a:cs typeface="Times New Roman" panose="02020603050405020304" pitchFamily="18" charset="0"/>
              </a:rPr>
              <a:t>Observations:</a:t>
            </a:r>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r>
              <a:rPr lang="en-US" sz="1400" b="1" dirty="0">
                <a:latin typeface="Times New Roman" panose="02020603050405020304" pitchFamily="18" charset="0"/>
                <a:cs typeface="Times New Roman" panose="02020603050405020304" pitchFamily="18" charset="0"/>
              </a:rPr>
              <a:t>10–20% e‑waste replacement</a:t>
            </a:r>
            <a:r>
              <a:rPr lang="en-US" sz="1400" dirty="0">
                <a:latin typeface="Times New Roman" panose="02020603050405020304" pitchFamily="18" charset="0"/>
                <a:cs typeface="Times New Roman" panose="02020603050405020304" pitchFamily="18" charset="0"/>
              </a:rPr>
              <a:t> generally improves or at least maintains compressive strength compared to 0% mix.</a:t>
            </a:r>
          </a:p>
          <a:p>
            <a:pPr marL="285750" indent="-285750">
              <a:lnSpc>
                <a:spcPct val="150000"/>
              </a:lnSpc>
              <a:buFont typeface="Wingdings" panose="05000000000000000000" pitchFamily="2" charset="2"/>
              <a:buChar char="§"/>
            </a:pPr>
            <a:r>
              <a:rPr lang="en-US" sz="1400" b="1" dirty="0">
                <a:latin typeface="Times New Roman" panose="02020603050405020304" pitchFamily="18" charset="0"/>
                <a:cs typeface="Times New Roman" panose="02020603050405020304" pitchFamily="18" charset="0"/>
              </a:rPr>
              <a:t>Beyond 20–30%</a:t>
            </a:r>
            <a:r>
              <a:rPr lang="en-US" sz="1400" dirty="0">
                <a:latin typeface="Times New Roman" panose="02020603050405020304" pitchFamily="18" charset="0"/>
                <a:cs typeface="Times New Roman" panose="02020603050405020304" pitchFamily="18" charset="0"/>
              </a:rPr>
              <a:t>, strength may decrease due to poor bonding, higher porosity, or irregular particle shape of e‑waste.</a:t>
            </a:r>
          </a:p>
          <a:p>
            <a:pPr marL="285750" indent="-285750">
              <a:lnSpc>
                <a:spcPct val="150000"/>
              </a:lnSpc>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Concrete with e‑waste tends to be </a:t>
            </a:r>
            <a:r>
              <a:rPr lang="en-US" sz="1400" b="1" dirty="0">
                <a:latin typeface="Times New Roman" panose="02020603050405020304" pitchFamily="18" charset="0"/>
                <a:cs typeface="Times New Roman" panose="02020603050405020304" pitchFamily="18" charset="0"/>
              </a:rPr>
              <a:t>lighter in weight</a:t>
            </a:r>
            <a:r>
              <a:rPr lang="en-US" sz="1400" dirty="0">
                <a:latin typeface="Times New Roman" panose="02020603050405020304" pitchFamily="18" charset="0"/>
                <a:cs typeface="Times New Roman" panose="02020603050405020304" pitchFamily="18" charset="0"/>
              </a:rPr>
              <a:t> than conventional concrete, which is beneficial for some applications.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1" name="Rectangle 22">
            <a:extLst>
              <a:ext uri="{FF2B5EF4-FFF2-40B4-BE49-F238E27FC236}">
                <a16:creationId xmlns="" xmlns:a16="http://schemas.microsoft.com/office/drawing/2014/main" id="{C7706954-EBB9-5FF3-0857-FB87001635A8}"/>
              </a:ext>
            </a:extLst>
          </p:cNvPr>
          <p:cNvSpPr>
            <a:spLocks noChangeArrowheads="1"/>
          </p:cNvSpPr>
          <p:nvPr/>
        </p:nvSpPr>
        <p:spPr bwMode="auto">
          <a:xfrm>
            <a:off x="1950795" y="1281343"/>
            <a:ext cx="47316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IN" sz="1400" b="1" dirty="0">
                <a:latin typeface="Times New Roman" panose="02020603050405020304" pitchFamily="18" charset="0"/>
                <a:cs typeface="Times New Roman" panose="02020603050405020304" pitchFamily="18" charset="0"/>
              </a:rPr>
              <a:t>Table:</a:t>
            </a:r>
            <a:r>
              <a:rPr lang="en-IN" sz="1400" dirty="0">
                <a:latin typeface="Times New Roman" panose="02020603050405020304" pitchFamily="18" charset="0"/>
                <a:cs typeface="Times New Roman" panose="02020603050405020304" pitchFamily="18" charset="0"/>
              </a:rPr>
              <a:t> Compressive strength (approximate values for illustration)</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rPr>
              <a:t/>
            </a:r>
            <a:br>
              <a:rPr kumimoji="0" lang="en-US" altLang="en-US" sz="1400" b="0" i="0" u="none" strike="noStrike" cap="none" normalizeH="0" baseline="0" dirty="0">
                <a:ln>
                  <a:noFill/>
                </a:ln>
                <a:solidFill>
                  <a:schemeClr val="tx1"/>
                </a:solidFill>
                <a:effectLst/>
              </a:rPr>
            </a:b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82008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0156" y="508556"/>
            <a:ext cx="8911687" cy="785120"/>
          </a:xfrm>
        </p:spPr>
        <p:txBody>
          <a:bodyPr/>
          <a:lstStyle/>
          <a:p>
            <a:r>
              <a:rPr lang="en-US" dirty="0">
                <a:solidFill>
                  <a:srgbClr val="0070C0"/>
                </a:solidFill>
                <a:latin typeface="Times New Roman" panose="02020603050405020304" pitchFamily="18" charset="0"/>
                <a:cs typeface="Times New Roman" panose="02020603050405020304" pitchFamily="18" charset="0"/>
              </a:rPr>
              <a:t>Analysis</a:t>
            </a:r>
          </a:p>
        </p:txBody>
      </p:sp>
      <p:sp>
        <p:nvSpPr>
          <p:cNvPr id="3" name="Content Placeholder 2"/>
          <p:cNvSpPr>
            <a:spLocks noGrp="1"/>
          </p:cNvSpPr>
          <p:nvPr>
            <p:ph idx="1"/>
          </p:nvPr>
        </p:nvSpPr>
        <p:spPr>
          <a:xfrm>
            <a:off x="1690097" y="1176772"/>
            <a:ext cx="8915400" cy="4475601"/>
          </a:xfrm>
        </p:spPr>
        <p:txBody>
          <a:bodyPr>
            <a:normAutofit lnSpcReduction="10000"/>
          </a:bodyPr>
          <a:lstStyle/>
          <a:p>
            <a:r>
              <a:rPr lang="en-US" sz="1400" b="1" dirty="0"/>
              <a:t>1. Chemical Analysis (Pozzolanic Properties)</a:t>
            </a:r>
          </a:p>
          <a:p>
            <a:r>
              <a:rPr lang="en-US" sz="1400" dirty="0"/>
              <a:t>Explain why the agricultural waste ash (AWA) works as a cement substitute. </a:t>
            </a:r>
          </a:p>
          <a:p>
            <a:r>
              <a:rPr lang="en-US" sz="1400" b="1" dirty="0"/>
              <a:t>Oxide Composition</a:t>
            </a:r>
            <a:r>
              <a:rPr lang="en-US" sz="1400" dirty="0"/>
              <a:t>: State the percentages of </a:t>
            </a:r>
            <a:r>
              <a:rPr lang="en-US" sz="1400" dirty="0" smtClean="0"/>
              <a:t>(</a:t>
            </a:r>
            <a:r>
              <a:rPr lang="en-US" sz="1400" dirty="0"/>
              <a:t>Silica),  (Alumina), and </a:t>
            </a:r>
            <a:r>
              <a:rPr lang="en-US" sz="1400" dirty="0" smtClean="0"/>
              <a:t>(</a:t>
            </a:r>
            <a:r>
              <a:rPr lang="en-US" sz="1400" dirty="0"/>
              <a:t>Iron Oxide) found via </a:t>
            </a:r>
            <a:r>
              <a:rPr lang="en-US" sz="1400" b="1" dirty="0"/>
              <a:t>XRF</a:t>
            </a:r>
            <a:r>
              <a:rPr lang="en-US" sz="1400" dirty="0"/>
              <a:t> or </a:t>
            </a:r>
            <a:r>
              <a:rPr lang="en-US" sz="1400" b="1" dirty="0"/>
              <a:t>EDS</a:t>
            </a:r>
            <a:r>
              <a:rPr lang="en-US" sz="1400" dirty="0"/>
              <a:t> testing.</a:t>
            </a:r>
          </a:p>
          <a:p>
            <a:r>
              <a:rPr lang="en-US" sz="1400" b="1" dirty="0"/>
              <a:t>ASTM Compliance</a:t>
            </a:r>
            <a:r>
              <a:rPr lang="en-US" sz="1400" dirty="0"/>
              <a:t>: Compare your results to ASTM C618 standards. For a good </a:t>
            </a:r>
            <a:r>
              <a:rPr lang="en-US" sz="1400" dirty="0" err="1"/>
              <a:t>pozzolan</a:t>
            </a:r>
            <a:r>
              <a:rPr lang="en-US" sz="1400" dirty="0"/>
              <a:t>, the sum of these three oxides should ideally exceed </a:t>
            </a:r>
          </a:p>
          <a:p>
            <a:r>
              <a:rPr lang="en-US" sz="1400" b="1" dirty="0"/>
              <a:t>Pozzolanic Reaction</a:t>
            </a:r>
            <a:r>
              <a:rPr lang="en-US" sz="1400" dirty="0"/>
              <a:t>: Describe how the reactive silica in the ash reacts with calcium </a:t>
            </a:r>
            <a:r>
              <a:rPr lang="en-US" sz="1400" dirty="0" smtClean="0"/>
              <a:t>hydroxide from </a:t>
            </a:r>
            <a:r>
              <a:rPr lang="en-US" sz="1400" dirty="0"/>
              <a:t>cement hydration to form additional </a:t>
            </a:r>
            <a:r>
              <a:rPr lang="en-US" sz="1400" b="1" dirty="0"/>
              <a:t>Calcium Silicate Hydrate (C-S-H) gel</a:t>
            </a:r>
            <a:r>
              <a:rPr lang="en-US" sz="1400" dirty="0"/>
              <a:t>, which </a:t>
            </a:r>
            <a:r>
              <a:rPr lang="en-US" sz="1400" dirty="0" err="1"/>
              <a:t>densifies</a:t>
            </a:r>
            <a:r>
              <a:rPr lang="en-US" sz="1400" dirty="0"/>
              <a:t> the concrete matrix.</a:t>
            </a:r>
          </a:p>
          <a:p>
            <a:r>
              <a:rPr lang="en-US" sz="1400" b="1" dirty="0"/>
              <a:t>2. Analysis of Fresh Concrete (Workability)</a:t>
            </a:r>
          </a:p>
          <a:p>
            <a:r>
              <a:rPr lang="en-US" sz="1400" dirty="0"/>
              <a:t>Discuss how the ash affects the concrete before it hardens. </a:t>
            </a:r>
          </a:p>
          <a:p>
            <a:r>
              <a:rPr lang="en-US" sz="1400" b="1" dirty="0"/>
              <a:t>Workability/Slump</a:t>
            </a:r>
            <a:r>
              <a:rPr lang="en-US" sz="1400" dirty="0"/>
              <a:t>: Most studies (like those on Rice Husk Ash) show that workability </a:t>
            </a:r>
            <a:r>
              <a:rPr lang="en-US" sz="1400" b="1" dirty="0"/>
              <a:t>decreases</a:t>
            </a:r>
            <a:r>
              <a:rPr lang="en-US" sz="1400" dirty="0"/>
              <a:t> as ash content increases due to the higher surface area and porous nature of ash particles, which absorb more water.</a:t>
            </a:r>
          </a:p>
          <a:p>
            <a:r>
              <a:rPr lang="en-US" sz="1400" b="1" dirty="0"/>
              <a:t>Setting Time</a:t>
            </a:r>
            <a:r>
              <a:rPr lang="en-US" sz="1400" dirty="0"/>
              <a:t>: Analyze changes in initial and final setting times. Many agricultural ashes act as retarders, increasing the setting time</a:t>
            </a:r>
            <a:r>
              <a:rPr lang="en-US" sz="1400" dirty="0" smtClean="0"/>
              <a:t>.</a:t>
            </a:r>
            <a:r>
              <a:rPr lang="en-US" sz="1400" dirty="0"/>
              <a:t> </a:t>
            </a:r>
          </a:p>
          <a:p>
            <a:endParaRPr lang="en-US" sz="14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1215500" y="6131601"/>
            <a:ext cx="578224" cy="369332"/>
          </a:xfrm>
          <a:prstGeom prst="rect">
            <a:avLst/>
          </a:prstGeom>
          <a:noFill/>
        </p:spPr>
        <p:txBody>
          <a:bodyPr wrap="square" rtlCol="0">
            <a:spAutoFit/>
          </a:bodyPr>
          <a:lstStyle/>
          <a:p>
            <a:r>
              <a:rPr lang="en-US" dirty="0"/>
              <a:t>10</a:t>
            </a:r>
          </a:p>
        </p:txBody>
      </p:sp>
    </p:spTree>
    <p:extLst>
      <p:ext uri="{BB962C8B-B14F-4D97-AF65-F5344CB8AC3E}">
        <p14:creationId xmlns:p14="http://schemas.microsoft.com/office/powerpoint/2010/main" val="42263240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7933" y="591672"/>
            <a:ext cx="8911687" cy="690968"/>
          </a:xfrm>
        </p:spPr>
        <p:txBody>
          <a:bodyPr/>
          <a:lstStyle/>
          <a:p>
            <a:r>
              <a:rPr lang="en-US" dirty="0">
                <a:solidFill>
                  <a:srgbClr val="0070C0"/>
                </a:solidFill>
                <a:latin typeface="Times New Roman" panose="02020603050405020304" pitchFamily="18" charset="0"/>
                <a:cs typeface="Times New Roman" panose="02020603050405020304" pitchFamily="18" charset="0"/>
              </a:rPr>
              <a:t>Discussion</a:t>
            </a:r>
          </a:p>
        </p:txBody>
      </p:sp>
      <p:sp>
        <p:nvSpPr>
          <p:cNvPr id="3" name="Content Placeholder 2"/>
          <p:cNvSpPr>
            <a:spLocks noGrp="1"/>
          </p:cNvSpPr>
          <p:nvPr>
            <p:ph idx="1"/>
          </p:nvPr>
        </p:nvSpPr>
        <p:spPr>
          <a:xfrm>
            <a:off x="1847933" y="1282640"/>
            <a:ext cx="8915400" cy="4764387"/>
          </a:xfrm>
        </p:spPr>
        <p:txBody>
          <a:bodyPr>
            <a:normAutofit/>
          </a:bodyPr>
          <a:lstStyle/>
          <a:p>
            <a:r>
              <a:rPr lang="en-US" sz="1400" b="1" dirty="0">
                <a:latin typeface="Times New Roman" panose="02020603050405020304" pitchFamily="18" charset="0"/>
                <a:cs typeface="Times New Roman" panose="02020603050405020304" pitchFamily="18" charset="0"/>
              </a:rPr>
              <a:t>What worked</a:t>
            </a:r>
          </a:p>
          <a:p>
            <a:r>
              <a:rPr lang="en-US" sz="1400" b="1" dirty="0"/>
              <a:t>1. Effect on Mechanical Strength</a:t>
            </a:r>
          </a:p>
          <a:p>
            <a:r>
              <a:rPr lang="en-US" sz="1400" b="1" dirty="0"/>
              <a:t>Optimal Replacement Level</a:t>
            </a:r>
            <a:r>
              <a:rPr lang="en-US" sz="1400" dirty="0"/>
              <a:t>: Mention that strength typically increases up to a certain point (often </a:t>
            </a:r>
            <a:r>
              <a:rPr lang="en-US" sz="1400" b="1" dirty="0"/>
              <a:t>10% to 15%</a:t>
            </a:r>
            <a:r>
              <a:rPr lang="en-US" sz="1400" dirty="0"/>
              <a:t> for Rice Husk Ash or Sugarcane Bagasse Ash) before it starts to decline.</a:t>
            </a:r>
          </a:p>
          <a:p>
            <a:r>
              <a:rPr lang="en-US" sz="1400" b="1" dirty="0"/>
              <a:t>Pozzolanic Reaction</a:t>
            </a:r>
            <a:r>
              <a:rPr lang="en-US" sz="1400" dirty="0"/>
              <a:t>: Explain that the high </a:t>
            </a:r>
            <a:r>
              <a:rPr lang="en-US" sz="1400" b="1" dirty="0"/>
              <a:t>amorphous silica</a:t>
            </a:r>
            <a:r>
              <a:rPr lang="en-US" sz="1400" dirty="0"/>
              <a:t> in agricultural ash reacts with calcium hydroxide—a byproduct of cement hydration—to form additional </a:t>
            </a:r>
            <a:r>
              <a:rPr lang="en-US" sz="1400" b="1" dirty="0"/>
              <a:t>Calcium Silicate Hydrate (</a:t>
            </a:r>
            <a:r>
              <a:rPr lang="en-US" sz="1400" b="1" dirty="0" smtClean="0"/>
              <a:t>CH)gel</a:t>
            </a:r>
            <a:r>
              <a:rPr lang="en-US" sz="1400" dirty="0"/>
              <a:t>, which makes the concrete stronger and denser.</a:t>
            </a:r>
          </a:p>
          <a:p>
            <a:r>
              <a:rPr lang="en-US" sz="1400" b="1" dirty="0"/>
              <a:t>Filler Effect</a:t>
            </a:r>
            <a:r>
              <a:rPr lang="en-US" sz="1400" dirty="0"/>
              <a:t>: Note that the fine particles of the ash act as a "micro-filler," filling tiny pores in the concrete matrix and reducing its porosity</a:t>
            </a:r>
            <a:r>
              <a:rPr lang="en-US" sz="1400" dirty="0" smtClean="0"/>
              <a:t>.</a:t>
            </a:r>
          </a:p>
          <a:p>
            <a:r>
              <a:rPr lang="en-US" sz="1400" b="1" dirty="0"/>
              <a:t>2. Fresh Properties (Workability)</a:t>
            </a:r>
          </a:p>
          <a:p>
            <a:r>
              <a:rPr lang="en-US" sz="1400" b="1" dirty="0"/>
              <a:t>Reduced Workability</a:t>
            </a:r>
            <a:r>
              <a:rPr lang="en-US" sz="1400" dirty="0"/>
              <a:t>: Discuss how adding ash generally </a:t>
            </a:r>
            <a:r>
              <a:rPr lang="en-US" sz="1400" b="1" dirty="0"/>
              <a:t>reduces the slump</a:t>
            </a:r>
            <a:r>
              <a:rPr lang="en-US" sz="1400" dirty="0"/>
              <a:t> (workability) because the ash particles have a higher surface area and absorb more water.</a:t>
            </a:r>
          </a:p>
          <a:p>
            <a:r>
              <a:rPr lang="en-US" sz="1400" b="1" dirty="0"/>
              <a:t>Setting Time</a:t>
            </a:r>
            <a:r>
              <a:rPr lang="en-US" sz="1400" dirty="0"/>
              <a:t>: Mention that agricultural ashes often </a:t>
            </a:r>
            <a:r>
              <a:rPr lang="en-US" sz="1400" b="1" dirty="0"/>
              <a:t>increase the setting time</a:t>
            </a:r>
            <a:r>
              <a:rPr lang="en-US" sz="1400" dirty="0"/>
              <a:t> of concrete, acting as a natural retarder, which can be useful in hot weather conditions</a:t>
            </a:r>
          </a:p>
          <a:p>
            <a:endParaRPr lang="en-US" sz="1400" dirty="0"/>
          </a:p>
          <a:p>
            <a:pPr>
              <a:buFont typeface="Wingdings" panose="05000000000000000000" pitchFamily="2" charset="2"/>
              <a:buChar char="§"/>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p>
        </p:txBody>
      </p:sp>
      <p:sp>
        <p:nvSpPr>
          <p:cNvPr id="5" name="TextBox 4"/>
          <p:cNvSpPr txBox="1"/>
          <p:nvPr/>
        </p:nvSpPr>
        <p:spPr>
          <a:xfrm>
            <a:off x="11215500" y="6131601"/>
            <a:ext cx="578224" cy="369332"/>
          </a:xfrm>
          <a:prstGeom prst="rect">
            <a:avLst/>
          </a:prstGeom>
          <a:noFill/>
        </p:spPr>
        <p:txBody>
          <a:bodyPr wrap="square" rtlCol="0">
            <a:spAutoFit/>
          </a:bodyPr>
          <a:lstStyle/>
          <a:p>
            <a:r>
              <a:rPr lang="en-US" dirty="0"/>
              <a:t>11</a:t>
            </a:r>
          </a:p>
        </p:txBody>
      </p:sp>
    </p:spTree>
    <p:extLst>
      <p:ext uri="{BB962C8B-B14F-4D97-AF65-F5344CB8AC3E}">
        <p14:creationId xmlns:p14="http://schemas.microsoft.com/office/powerpoint/2010/main" val="41363567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6925" y="598710"/>
            <a:ext cx="8911687" cy="1280890"/>
          </a:xfrm>
        </p:spPr>
        <p:txBody>
          <a:bodyPr/>
          <a:lstStyle/>
          <a:p>
            <a:r>
              <a:rPr lang="en-US" dirty="0">
                <a:solidFill>
                  <a:srgbClr val="0070C0"/>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1471612" y="1461247"/>
            <a:ext cx="8915400" cy="4365811"/>
          </a:xfrm>
        </p:spPr>
        <p:txBody>
          <a:bodyPr>
            <a:normAutofit/>
          </a:bodyPr>
          <a:lstStyle/>
          <a:p>
            <a:pPr>
              <a:lnSpc>
                <a:spcPct val="150000"/>
              </a:lnSpc>
              <a:buFont typeface="Wingdings" panose="05000000000000000000" pitchFamily="2" charset="2"/>
              <a:buChar char="v"/>
            </a:pPr>
            <a:r>
              <a:rPr lang="en-US" sz="1600" dirty="0"/>
              <a:t>This research demonstrates that agricultural waste ash is a viable and sustainable substitute for cement in concrete production. Replacing cement by </a:t>
            </a:r>
            <a:r>
              <a:rPr lang="en-US" sz="1600" b="1" dirty="0"/>
              <a:t>10-15%</a:t>
            </a:r>
            <a:r>
              <a:rPr lang="en-US" sz="1600" dirty="0"/>
              <a:t> not only achieves required structural strength but also enhances long-term durability and reduces environmental pollution. While higher replacement levels may lead to a decrease in workability and strength, the use of </a:t>
            </a:r>
            <a:r>
              <a:rPr lang="en-US" sz="1600" b="1" dirty="0"/>
              <a:t>optimal proportions</a:t>
            </a:r>
            <a:r>
              <a:rPr lang="en-US" sz="1600" dirty="0"/>
              <a:t> promotes a circular economy and cost-effective construction.</a:t>
            </a:r>
            <a:endParaRPr lang="en-US" sz="1600" dirty="0">
              <a:latin typeface="Times New Roman" panose="02020603050405020304" pitchFamily="18" charset="0"/>
              <a:cs typeface="Times New Roman" panose="02020603050405020304" pitchFamily="18" charset="0"/>
            </a:endParaRP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endParaRPr lang="en-US" sz="1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1215500" y="6131601"/>
            <a:ext cx="578224" cy="369332"/>
          </a:xfrm>
          <a:prstGeom prst="rect">
            <a:avLst/>
          </a:prstGeom>
          <a:noFill/>
        </p:spPr>
        <p:txBody>
          <a:bodyPr wrap="square" rtlCol="0">
            <a:spAutoFit/>
          </a:bodyPr>
          <a:lstStyle/>
          <a:p>
            <a:r>
              <a:rPr lang="en-US" dirty="0"/>
              <a:t>12</a:t>
            </a:r>
          </a:p>
        </p:txBody>
      </p:sp>
    </p:spTree>
    <p:extLst>
      <p:ext uri="{BB962C8B-B14F-4D97-AF65-F5344CB8AC3E}">
        <p14:creationId xmlns:p14="http://schemas.microsoft.com/office/powerpoint/2010/main" val="42263240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0627" y="409291"/>
            <a:ext cx="8911687" cy="751294"/>
          </a:xfrm>
        </p:spPr>
        <p:txBody>
          <a:bodyPr/>
          <a:lstStyle/>
          <a:p>
            <a:r>
              <a:rPr lang="en-US" dirty="0">
                <a:solidFill>
                  <a:srgbClr val="0070C0"/>
                </a:solidFill>
                <a:latin typeface="Times New Roman" panose="02020603050405020304" pitchFamily="18" charset="0"/>
                <a:cs typeface="Times New Roman" panose="02020603050405020304" pitchFamily="18" charset="0"/>
              </a:rPr>
              <a:t>Future Scope</a:t>
            </a:r>
          </a:p>
        </p:txBody>
      </p:sp>
      <p:sp>
        <p:nvSpPr>
          <p:cNvPr id="3" name="Content Placeholder 2"/>
          <p:cNvSpPr>
            <a:spLocks noGrp="1"/>
          </p:cNvSpPr>
          <p:nvPr>
            <p:ph idx="1"/>
          </p:nvPr>
        </p:nvSpPr>
        <p:spPr>
          <a:xfrm>
            <a:off x="1811581" y="1148171"/>
            <a:ext cx="9300662" cy="5257564"/>
          </a:xfrm>
        </p:spPr>
        <p:txBody>
          <a:bodyPr>
            <a:normAutofit/>
          </a:bodyPr>
          <a:lstStyle/>
          <a:p>
            <a:r>
              <a:rPr lang="en-US" sz="1600" b="1" dirty="0"/>
              <a:t>Long-term Durability Studies</a:t>
            </a:r>
          </a:p>
          <a:p>
            <a:r>
              <a:rPr lang="en-US" sz="1600" b="1" dirty="0"/>
              <a:t>Environmental Exposure</a:t>
            </a:r>
            <a:r>
              <a:rPr lang="en-US" sz="1600" dirty="0"/>
              <a:t>: Research is needed to evaluate how concrete with agricultural ash performs over </a:t>
            </a:r>
            <a:r>
              <a:rPr lang="en-US" sz="1600" b="1" dirty="0"/>
              <a:t>5 to 10 years</a:t>
            </a:r>
            <a:r>
              <a:rPr lang="en-US" sz="1600" dirty="0"/>
              <a:t> in harsh environments, such as marine areas (saltwater) or industrial zones with high acid rain.</a:t>
            </a:r>
          </a:p>
          <a:p>
            <a:r>
              <a:rPr lang="en-US" sz="1600" b="1" dirty="0"/>
              <a:t>Corrosion Resistance</a:t>
            </a:r>
            <a:r>
              <a:rPr lang="en-US" sz="1600" dirty="0"/>
              <a:t>: Investigating the long-term protection of steel reinforcement against corrosion when using higher percentages of bio-ash</a:t>
            </a:r>
          </a:p>
          <a:p>
            <a:r>
              <a:rPr lang="en-US" sz="1600" b="1" dirty="0"/>
              <a:t>Standardization and Industrial Adoption</a:t>
            </a:r>
          </a:p>
          <a:p>
            <a:r>
              <a:rPr lang="en-US" sz="1600" b="1" dirty="0"/>
              <a:t>Development of Guidelines</a:t>
            </a:r>
            <a:r>
              <a:rPr lang="en-US" sz="1600" dirty="0"/>
              <a:t>: Currently, there is a lack of </a:t>
            </a:r>
            <a:r>
              <a:rPr lang="en-US" sz="1600" b="1" dirty="0"/>
              <a:t>official building codes</a:t>
            </a:r>
            <a:r>
              <a:rPr lang="en-US" sz="1600" dirty="0"/>
              <a:t> (like IS or ASTM standards) specifically for bio-ash in structural concrete. Future work should focus on creating universal mixing ratios and quality control guidelines.</a:t>
            </a:r>
          </a:p>
          <a:p>
            <a:r>
              <a:rPr lang="en-US" sz="1600" b="1" dirty="0"/>
              <a:t>Commercialization</a:t>
            </a:r>
            <a:r>
              <a:rPr lang="en-US" sz="1600" dirty="0"/>
              <a:t>: Developing cost-effective methods for large-scale collection, controlled burning, and grinding of agricultural waste to ensure consistent ash quality</a:t>
            </a:r>
            <a:r>
              <a:rPr lang="en-US" sz="1600" dirty="0" smtClean="0"/>
              <a:t>.</a:t>
            </a:r>
          </a:p>
          <a:p>
            <a:r>
              <a:rPr lang="en-US" sz="1600" dirty="0"/>
              <a:t>Future research should focus on the </a:t>
            </a:r>
            <a:r>
              <a:rPr lang="en-US" sz="1600" b="1" dirty="0"/>
              <a:t>standardization of processing methods</a:t>
            </a:r>
            <a:r>
              <a:rPr lang="en-US" sz="1600" dirty="0"/>
              <a:t> to ensure ash consistency and the performance of </a:t>
            </a:r>
            <a:r>
              <a:rPr lang="en-US" sz="1600" b="1" dirty="0"/>
              <a:t>long-term field trials</a:t>
            </a:r>
            <a:r>
              <a:rPr lang="en-US" sz="1600" dirty="0"/>
              <a:t> under diverse climatic conditions. Additionally, integrating </a:t>
            </a:r>
            <a:r>
              <a:rPr lang="en-US" sz="1600" b="1" dirty="0"/>
              <a:t>Life Cycle Assessments</a:t>
            </a:r>
            <a:r>
              <a:rPr lang="en-US" sz="1600" dirty="0"/>
              <a:t> and </a:t>
            </a:r>
            <a:r>
              <a:rPr lang="en-US" sz="1600" b="1" dirty="0"/>
              <a:t>AI-driven mix optimization</a:t>
            </a:r>
            <a:r>
              <a:rPr lang="en-US" sz="1600" dirty="0"/>
              <a:t> will be crucial for the large-scale commercial adoption of agricultural waste ash in the green construction industry." </a:t>
            </a:r>
          </a:p>
          <a:p>
            <a:pPr marL="0" indent="0">
              <a:buNone/>
            </a:pPr>
            <a:endParaRPr lang="en-US" sz="1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1215500" y="6131601"/>
            <a:ext cx="578224" cy="369332"/>
          </a:xfrm>
          <a:prstGeom prst="rect">
            <a:avLst/>
          </a:prstGeom>
          <a:noFill/>
        </p:spPr>
        <p:txBody>
          <a:bodyPr wrap="square" rtlCol="0">
            <a:spAutoFit/>
          </a:bodyPr>
          <a:lstStyle/>
          <a:p>
            <a:r>
              <a:rPr lang="en-US" dirty="0"/>
              <a:t>13</a:t>
            </a:r>
          </a:p>
        </p:txBody>
      </p:sp>
    </p:spTree>
    <p:extLst>
      <p:ext uri="{BB962C8B-B14F-4D97-AF65-F5344CB8AC3E}">
        <p14:creationId xmlns:p14="http://schemas.microsoft.com/office/powerpoint/2010/main" val="37256765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0073" y="554623"/>
            <a:ext cx="8911687" cy="1280890"/>
          </a:xfrm>
        </p:spPr>
        <p:txBody>
          <a:bodyPr/>
          <a:lstStyle/>
          <a:p>
            <a:r>
              <a:rPr lang="en-US" dirty="0">
                <a:solidFill>
                  <a:srgbClr val="0070C0"/>
                </a:solidFill>
                <a:latin typeface="Times New Roman" panose="02020603050405020304" pitchFamily="18" charset="0"/>
                <a:cs typeface="Times New Roman" panose="02020603050405020304" pitchFamily="18" charset="0"/>
              </a:rPr>
              <a:t>References</a:t>
            </a:r>
          </a:p>
        </p:txBody>
      </p:sp>
      <p:sp>
        <p:nvSpPr>
          <p:cNvPr id="4" name="Footer Placeholder 3"/>
          <p:cNvSpPr>
            <a:spLocks noGrp="1"/>
          </p:cNvSpPr>
          <p:nvPr>
            <p:ph type="ftr" sz="quarter" idx="11"/>
          </p:nvPr>
        </p:nvSpPr>
        <p:spPr/>
        <p:txBody>
          <a:bodyPr/>
          <a:lstStyle/>
          <a:p>
            <a:r>
              <a:rPr lang="en-US" sz="2400"/>
              <a:t>BIT </a:t>
            </a:r>
            <a:endParaRPr lang="en-US" sz="2400" dirty="0"/>
          </a:p>
        </p:txBody>
      </p:sp>
      <p:sp>
        <p:nvSpPr>
          <p:cNvPr id="5" name="TextBox 4"/>
          <p:cNvSpPr txBox="1"/>
          <p:nvPr/>
        </p:nvSpPr>
        <p:spPr>
          <a:xfrm>
            <a:off x="11264588" y="6135808"/>
            <a:ext cx="578224" cy="369332"/>
          </a:xfrm>
          <a:prstGeom prst="rect">
            <a:avLst/>
          </a:prstGeom>
          <a:noFill/>
        </p:spPr>
        <p:txBody>
          <a:bodyPr wrap="square" rtlCol="0">
            <a:spAutoFit/>
          </a:bodyPr>
          <a:lstStyle/>
          <a:p>
            <a:r>
              <a:rPr lang="en-US" dirty="0"/>
              <a:t>14</a:t>
            </a:r>
          </a:p>
        </p:txBody>
      </p:sp>
      <p:sp>
        <p:nvSpPr>
          <p:cNvPr id="7" name="Content Placeholder 6">
            <a:extLst>
              <a:ext uri="{FF2B5EF4-FFF2-40B4-BE49-F238E27FC236}">
                <a16:creationId xmlns="" xmlns:a16="http://schemas.microsoft.com/office/drawing/2014/main" id="{D2F324C0-7EAB-EFDA-38E6-2FB479AEF73A}"/>
              </a:ext>
            </a:extLst>
          </p:cNvPr>
          <p:cNvSpPr>
            <a:spLocks noGrp="1"/>
          </p:cNvSpPr>
          <p:nvPr>
            <p:ph idx="1"/>
          </p:nvPr>
        </p:nvSpPr>
        <p:spPr>
          <a:xfrm>
            <a:off x="1703925" y="1264278"/>
            <a:ext cx="9815722" cy="4733109"/>
          </a:xfrm>
        </p:spPr>
        <p:txBody>
          <a:bodyPr>
            <a:normAutofit fontScale="77500" lnSpcReduction="20000"/>
          </a:bodyPr>
          <a:lstStyle/>
          <a:p>
            <a:r>
              <a:rPr lang="en-US" b="1" dirty="0"/>
              <a:t>Rice Husk Ash (RHA):</a:t>
            </a:r>
            <a:endParaRPr lang="en-US" dirty="0"/>
          </a:p>
          <a:p>
            <a:pPr lvl="1"/>
            <a:r>
              <a:rPr lang="en-US" dirty="0" err="1"/>
              <a:t>Kartini</a:t>
            </a:r>
            <a:r>
              <a:rPr lang="en-US" dirty="0"/>
              <a:t>, K. (2011). "Rice Husk Ash – Pozzolanic Material for Sustainability." </a:t>
            </a:r>
            <a:r>
              <a:rPr lang="en-US" i="1" dirty="0"/>
              <a:t>International Journal of Applied Science and Technology</a:t>
            </a:r>
            <a:r>
              <a:rPr lang="en-US" dirty="0"/>
              <a:t>.</a:t>
            </a:r>
          </a:p>
          <a:p>
            <a:pPr lvl="1"/>
            <a:r>
              <a:rPr lang="en-US" dirty="0"/>
              <a:t>Thomas, B.S. (2018). "Green concrete comprised of rice husk ash." </a:t>
            </a:r>
            <a:r>
              <a:rPr lang="en-US" i="1" dirty="0"/>
              <a:t>Renewable and Sustainable Energy Reviews</a:t>
            </a:r>
            <a:r>
              <a:rPr lang="en-US" dirty="0"/>
              <a:t>.</a:t>
            </a:r>
          </a:p>
          <a:p>
            <a:pPr lvl="1"/>
            <a:r>
              <a:rPr lang="en-US" dirty="0"/>
              <a:t>Ismail, M.S., &amp; </a:t>
            </a:r>
            <a:r>
              <a:rPr lang="en-US" dirty="0" err="1"/>
              <a:t>Waliuddin</a:t>
            </a:r>
            <a:r>
              <a:rPr lang="en-US" dirty="0"/>
              <a:t>, A. (1996). "Effect of rice husk ash on high strength concrete." </a:t>
            </a:r>
            <a:r>
              <a:rPr lang="en-US" i="1" dirty="0"/>
              <a:t>Construction and Building Materials</a:t>
            </a:r>
            <a:r>
              <a:rPr lang="en-US" dirty="0"/>
              <a:t>.</a:t>
            </a:r>
          </a:p>
          <a:p>
            <a:r>
              <a:rPr lang="en-US" b="1" dirty="0"/>
              <a:t>Sugarcane Bagasse Ash (SCBA):</a:t>
            </a:r>
            <a:endParaRPr lang="en-US" dirty="0"/>
          </a:p>
          <a:p>
            <a:pPr lvl="1"/>
            <a:r>
              <a:rPr lang="en-US" dirty="0" err="1"/>
              <a:t>Kanjawane</a:t>
            </a:r>
            <a:r>
              <a:rPr lang="en-US" dirty="0"/>
              <a:t>, T.M., &amp; </a:t>
            </a:r>
            <a:r>
              <a:rPr lang="en-US" dirty="0" err="1"/>
              <a:t>Wagh</a:t>
            </a:r>
            <a:r>
              <a:rPr lang="en-US" dirty="0"/>
              <a:t>, M.P. (2018). "Agriculture Waste Used as Partial Replacement in Green Concrete." </a:t>
            </a:r>
            <a:r>
              <a:rPr lang="en-US" i="1" dirty="0">
                <a:hlinkClick r:id="rId3"/>
              </a:rPr>
              <a:t>IJRASET</a:t>
            </a:r>
            <a:r>
              <a:rPr lang="en-US" dirty="0"/>
              <a:t>.</a:t>
            </a:r>
          </a:p>
          <a:p>
            <a:pPr lvl="1"/>
            <a:r>
              <a:rPr lang="en-US" dirty="0" err="1"/>
              <a:t>Dhengare</a:t>
            </a:r>
            <a:r>
              <a:rPr lang="en-US" dirty="0"/>
              <a:t>, S.W., et al. (2015). "Investigation into Utilization of Sugarcane Bagasse Ash." </a:t>
            </a:r>
            <a:r>
              <a:rPr lang="en-US" i="1" dirty="0"/>
              <a:t>IJEERT</a:t>
            </a:r>
            <a:r>
              <a:rPr lang="en-US" dirty="0" smtClean="0"/>
              <a:t>.</a:t>
            </a:r>
          </a:p>
          <a:p>
            <a:pPr lvl="1"/>
            <a:endParaRPr lang="en-US" dirty="0"/>
          </a:p>
          <a:p>
            <a:r>
              <a:rPr lang="en-US" b="1" dirty="0"/>
              <a:t>Palm Oil Fuel Ash (POFA) &amp; Others:</a:t>
            </a:r>
            <a:endParaRPr lang="en-US" dirty="0"/>
          </a:p>
          <a:p>
            <a:pPr lvl="1"/>
            <a:r>
              <a:rPr lang="en-US" dirty="0"/>
              <a:t>Tangchirapat, W., et al. (2009). "Use of palm oil fuel ash." </a:t>
            </a:r>
            <a:r>
              <a:rPr lang="en-US" i="1" dirty="0"/>
              <a:t>Construction and Building Materials</a:t>
            </a:r>
            <a:r>
              <a:rPr lang="en-US" dirty="0"/>
              <a:t>.</a:t>
            </a:r>
          </a:p>
          <a:p>
            <a:pPr lvl="1"/>
            <a:r>
              <a:rPr lang="en-US" dirty="0"/>
              <a:t>Hamada, H.M., et al. (2020). "Effect of high-volume ultrafine POFA." </a:t>
            </a:r>
            <a:r>
              <a:rPr lang="en-US" i="1" dirty="0"/>
              <a:t>Case Studies in Construction Materials</a:t>
            </a:r>
            <a:r>
              <a:rPr lang="en-US" dirty="0"/>
              <a:t>.</a:t>
            </a:r>
          </a:p>
          <a:p>
            <a:pPr lvl="1"/>
            <a:r>
              <a:rPr lang="en-US" dirty="0" err="1"/>
              <a:t>Siddique</a:t>
            </a:r>
            <a:r>
              <a:rPr lang="en-US" dirty="0"/>
              <a:t>, R. (2012). "Utilization of wood ash in concrete manufacturing." </a:t>
            </a:r>
            <a:r>
              <a:rPr lang="en-US" i="1" dirty="0"/>
              <a:t>Resources, Conservation and Recycling</a:t>
            </a:r>
            <a:r>
              <a:rPr lang="en-US" dirty="0"/>
              <a:t>.</a:t>
            </a:r>
          </a:p>
          <a:p>
            <a:pPr lvl="1"/>
            <a:r>
              <a:rPr lang="en-US" dirty="0" err="1"/>
              <a:t>Liew</a:t>
            </a:r>
            <a:r>
              <a:rPr lang="en-US" dirty="0"/>
              <a:t>, K.M., et al. (2017). "Green concrete: Prospects and challenges." </a:t>
            </a:r>
            <a:r>
              <a:rPr lang="en-US" i="1" dirty="0"/>
              <a:t>Construction and Building Materials</a:t>
            </a:r>
            <a:r>
              <a:rPr lang="en-US" dirty="0"/>
              <a:t>.</a:t>
            </a:r>
          </a:p>
          <a:p>
            <a:pPr>
              <a:lnSpc>
                <a:spcPct val="150000"/>
              </a:lnSpc>
              <a:buFont typeface="Courier New" panose="02070309020205020404" pitchFamily="49" charset="0"/>
              <a:buChar char="o"/>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68218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6925" y="598710"/>
            <a:ext cx="8911687" cy="1280890"/>
          </a:xfrm>
        </p:spPr>
        <p:txBody>
          <a:bodyPr/>
          <a:lstStyle/>
          <a:p>
            <a:r>
              <a:rPr lang="en-US" dirty="0">
                <a:solidFill>
                  <a:srgbClr val="0070C0"/>
                </a:solidFill>
                <a:latin typeface="Times New Roman" panose="02020603050405020304" pitchFamily="18" charset="0"/>
                <a:cs typeface="Times New Roman" panose="02020603050405020304" pitchFamily="18" charset="0"/>
              </a:rPr>
              <a:t>Acknowledgement</a:t>
            </a:r>
          </a:p>
        </p:txBody>
      </p:sp>
      <p:sp>
        <p:nvSpPr>
          <p:cNvPr id="3" name="Content Placeholder 2"/>
          <p:cNvSpPr>
            <a:spLocks noGrp="1"/>
          </p:cNvSpPr>
          <p:nvPr>
            <p:ph idx="1"/>
          </p:nvPr>
        </p:nvSpPr>
        <p:spPr>
          <a:xfrm>
            <a:off x="1576925" y="1443319"/>
            <a:ext cx="9745499" cy="4356846"/>
          </a:xfrm>
        </p:spPr>
        <p:txBody>
          <a:bodyPr>
            <a:normAutofit/>
          </a:bodyPr>
          <a:lstStyle/>
          <a:p>
            <a:pPr marL="0" indent="0" algn="just">
              <a:buNone/>
            </a:pPr>
            <a:r>
              <a:rPr lang="en-US" sz="1400" dirty="0">
                <a:latin typeface="Times New Roman" panose="02020603050405020304" pitchFamily="18" charset="0"/>
                <a:cs typeface="Times New Roman" panose="02020603050405020304" pitchFamily="18" charset="0"/>
              </a:rPr>
              <a:t>First and the foremost, we shall thank God Almighty who gave us the inner strength, resource and ability to complete the work successfully, without which all our efforts would have been in vain.</a:t>
            </a:r>
          </a:p>
          <a:p>
            <a:pPr marL="0" indent="0" algn="just">
              <a:buNone/>
            </a:pPr>
            <a:r>
              <a:rPr lang="en-US" sz="1400" dirty="0">
                <a:latin typeface="Times New Roman" panose="02020603050405020304" pitchFamily="18" charset="0"/>
                <a:cs typeface="Times New Roman" panose="02020603050405020304" pitchFamily="18" charset="0"/>
              </a:rPr>
              <a:t>We are thankful to Mr. Baijnath Nishad, Head of the Department of Civil Engineering at Buddha Institute of Technology, Gorakhpur for his valuable advice and motivation throughout. </a:t>
            </a:r>
          </a:p>
          <a:p>
            <a:pPr marL="0" indent="0" algn="just">
              <a:buNone/>
            </a:pPr>
            <a:r>
              <a:rPr lang="en-US" sz="1400" dirty="0">
                <a:latin typeface="Times New Roman" panose="02020603050405020304" pitchFamily="18" charset="0"/>
                <a:cs typeface="Times New Roman" panose="02020603050405020304" pitchFamily="18" charset="0"/>
              </a:rPr>
              <a:t>We whole-heartedly thank our project guide </a:t>
            </a:r>
            <a:r>
              <a:rPr lang="en-US" sz="1400" dirty="0" smtClean="0">
                <a:latin typeface="Times New Roman" panose="02020603050405020304" pitchFamily="18" charset="0"/>
                <a:cs typeface="Times New Roman" panose="02020603050405020304" pitchFamily="18" charset="0"/>
              </a:rPr>
              <a:t>Mr</a:t>
            </a:r>
            <a:r>
              <a:rPr lang="en-US" sz="1400" dirty="0" smtClean="0">
                <a:latin typeface="Times New Roman" panose="02020603050405020304" pitchFamily="18" charset="0"/>
                <a:cs typeface="Times New Roman" panose="02020603050405020304" pitchFamily="18" charset="0"/>
              </a:rPr>
              <a:t>. </a:t>
            </a:r>
            <a:r>
              <a:rPr lang="en-IN" sz="1400" dirty="0" smtClean="0">
                <a:latin typeface="Times New Roman" panose="02020603050405020304" pitchFamily="18" charset="0"/>
                <a:cs typeface="Times New Roman" panose="02020603050405020304" pitchFamily="18" charset="0"/>
              </a:rPr>
              <a:t>Rahul </a:t>
            </a:r>
            <a:r>
              <a:rPr lang="en-IN" sz="1400" dirty="0" err="1" smtClean="0">
                <a:latin typeface="Times New Roman" panose="02020603050405020304" pitchFamily="18" charset="0"/>
                <a:cs typeface="Times New Roman" panose="02020603050405020304" pitchFamily="18" charset="0"/>
              </a:rPr>
              <a:t>Shukla</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(Assistant Professor, Dept. of Civil Engineering) for his valuable advice and support. </a:t>
            </a:r>
          </a:p>
          <a:p>
            <a:pPr marL="0" indent="0" algn="just">
              <a:buNone/>
            </a:pPr>
            <a:r>
              <a:rPr lang="en-US" sz="1400" dirty="0">
                <a:latin typeface="Times New Roman" panose="02020603050405020304" pitchFamily="18" charset="0"/>
                <a:cs typeface="Times New Roman" panose="02020603050405020304" pitchFamily="18" charset="0"/>
              </a:rPr>
              <a:t>We convey our sincere thanks to all the faculties and technical experts for their help and encouragement. We thank all our friends who have helped us during the work, with their inspiration and cooperation. We truly admire my parents for their constant encouragement and enduring support, which was inevitable for this success. Once again, we convey our gratitude to all those who have directly or indirectly influenced on the work. </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smtClean="0">
                <a:latin typeface="Times New Roman" panose="02020603050405020304" pitchFamily="18" charset="0"/>
                <a:cs typeface="Times New Roman" panose="02020603050405020304" pitchFamily="18" charset="0"/>
              </a:rPr>
              <a:t>ABHISHEK KUMAR GUPTA </a:t>
            </a:r>
            <a:r>
              <a:rPr lang="en-US" sz="1600" dirty="0">
                <a:latin typeface="Times New Roman" panose="02020603050405020304" pitchFamily="18" charset="0"/>
                <a:cs typeface="Times New Roman" panose="02020603050405020304" pitchFamily="18" charset="0"/>
              </a:rPr>
              <a:t>									Roll No.:- </a:t>
            </a:r>
            <a:r>
              <a:rPr lang="en-US" sz="1600" dirty="0" smtClean="0">
                <a:latin typeface="Times New Roman" panose="02020603050405020304" pitchFamily="18" charset="0"/>
                <a:cs typeface="Times New Roman" panose="02020603050405020304" pitchFamily="18" charset="0"/>
              </a:rPr>
              <a:t>2305250009001</a:t>
            </a:r>
            <a:endParaRPr lang="en-US" sz="1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1215500" y="6131601"/>
            <a:ext cx="578224" cy="369332"/>
          </a:xfrm>
          <a:prstGeom prst="rect">
            <a:avLst/>
          </a:prstGeom>
          <a:noFill/>
        </p:spPr>
        <p:txBody>
          <a:bodyPr wrap="square" rtlCol="0">
            <a:spAutoFit/>
          </a:bodyPr>
          <a:lstStyle/>
          <a:p>
            <a:r>
              <a:rPr lang="en-US" dirty="0"/>
              <a:t>15</a:t>
            </a:r>
          </a:p>
        </p:txBody>
      </p:sp>
    </p:spTree>
    <p:extLst>
      <p:ext uri="{BB962C8B-B14F-4D97-AF65-F5344CB8AC3E}">
        <p14:creationId xmlns:p14="http://schemas.microsoft.com/office/powerpoint/2010/main" val="27387620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16000" y="613622"/>
            <a:ext cx="4707170" cy="769441"/>
          </a:xfrm>
          <a:prstGeom prst="rect">
            <a:avLst/>
          </a:prstGeom>
          <a:noFill/>
        </p:spPr>
        <p:txBody>
          <a:bodyPr wrap="square" rtlCol="0">
            <a:spAutoFit/>
          </a:bodyPr>
          <a:lstStyle/>
          <a:p>
            <a:pPr algn="ctr"/>
            <a:r>
              <a:rPr lang="en-US" sz="4400" dirty="0">
                <a:solidFill>
                  <a:srgbClr val="0070C0"/>
                </a:solidFill>
                <a:latin typeface="Times New Roman" panose="02020603050405020304" pitchFamily="18" charset="0"/>
                <a:cs typeface="Times New Roman" panose="02020603050405020304" pitchFamily="18" charset="0"/>
              </a:rPr>
              <a:t>Thank You</a:t>
            </a:r>
          </a:p>
        </p:txBody>
      </p:sp>
      <p:sp>
        <p:nvSpPr>
          <p:cNvPr id="4" name="Content Placeholder 2"/>
          <p:cNvSpPr txBox="1">
            <a:spLocks/>
          </p:cNvSpPr>
          <p:nvPr/>
        </p:nvSpPr>
        <p:spPr>
          <a:xfrm>
            <a:off x="1471612" y="1854200"/>
            <a:ext cx="8915400" cy="3777622"/>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dirty="0">
                <a:latin typeface="Times New Roman" pitchFamily="18" charset="0"/>
                <a:cs typeface="Times New Roman" pitchFamily="18" charset="0"/>
              </a:rPr>
              <a:t>Thank You!</a:t>
            </a:r>
          </a:p>
          <a:p>
            <a:r>
              <a:rPr lang="en-US" dirty="0">
                <a:latin typeface="Times New Roman" pitchFamily="18" charset="0"/>
                <a:cs typeface="Times New Roman" pitchFamily="18" charset="0"/>
              </a:rPr>
              <a:t>Any Questions ?</a:t>
            </a:r>
          </a:p>
        </p:txBody>
      </p:sp>
    </p:spTree>
    <p:extLst>
      <p:ext uri="{BB962C8B-B14F-4D97-AF65-F5344CB8AC3E}">
        <p14:creationId xmlns:p14="http://schemas.microsoft.com/office/powerpoint/2010/main" val="582766264"/>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2643</TotalTime>
  <Words>1101</Words>
  <Application>Microsoft Office PowerPoint</Application>
  <PresentationFormat>Custom</PresentationFormat>
  <Paragraphs>224</Paragraphs>
  <Slides>18</Slides>
  <Notes>17</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Wisp</vt:lpstr>
      <vt:lpstr>  1st National Conference  on  “Sustainable Civil Engineering &amp; Geospatial Technologies: Materials and Innovations for Climate Resilience”    Buddha Institute of Technology, GIDA, Gorakhpur    Date of Conference: 15th To 16th April, 2026   </vt:lpstr>
      <vt:lpstr>Contents</vt:lpstr>
      <vt:lpstr>Introduction</vt:lpstr>
      <vt:lpstr>Problem Statement</vt:lpstr>
      <vt:lpstr>Objective</vt:lpstr>
      <vt:lpstr>Literature Review</vt:lpstr>
      <vt:lpstr>Methodology (Overview)</vt:lpstr>
      <vt:lpstr>Methodology (Flowchart)</vt:lpstr>
      <vt:lpstr>Implementation</vt:lpstr>
      <vt:lpstr>Proposed Methodology / Solution</vt:lpstr>
      <vt:lpstr>Results</vt:lpstr>
      <vt:lpstr>Analysis</vt:lpstr>
      <vt:lpstr>Discussion</vt:lpstr>
      <vt:lpstr>Conclusion</vt:lpstr>
      <vt:lpstr>Future Scope</vt:lpstr>
      <vt:lpstr>References</vt:lpstr>
      <vt:lpstr>Acknowledgement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Pranav Solanki</dc:creator>
  <cp:keywords>Student</cp:keywords>
  <cp:lastModifiedBy>Windows User</cp:lastModifiedBy>
  <cp:revision>72</cp:revision>
  <dcterms:created xsi:type="dcterms:W3CDTF">2021-07-06T06:08:52Z</dcterms:created>
  <dcterms:modified xsi:type="dcterms:W3CDTF">2026-04-14T11:14:36Z</dcterms:modified>
</cp:coreProperties>
</file>